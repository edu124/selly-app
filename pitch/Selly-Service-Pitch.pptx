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498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line, not the product. A cloud kitchen today rents its customers from somebody else. We give them a front door of their own. Keep the how out of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third one hardest — it is the existential risk, and it is the one they feel but rarely say out loud. Drop in a real commission figure here if you have a sourced one; better to quote a kitchen you have spoken to than a market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 at outcome level. If asked how it works, the honest answer in the room is 'that is the part we would rather show you than describe' — offer the live demo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quote prices in the room. If pushed: the kitchen fee is a flat subscription, the customer fee is nominal, and both are still being tested. The structural point is that we never take a percentage of the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consumer hook and the second revenue engine at once. The 7 AM example lands best — nobody else reliably delivers breakfast, and it is the clearest reason an ordinary person would pay a small monthly fee.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turns a food company into a bigger idea. Say plainly that kitchens are the wedge, not the ceiling — independence for households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first two out loud and wait. Leading with money makes the other three sound like politeness; leading with advice usually gets you all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4572000" cy="62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selly</a:t>
            </a:r>
            <a:r>
              <a:rPr lang="en-US" sz="3000" b="1" kern="0" spc="-1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9659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200" b="1" kern="0" spc="-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kitchen</a:t>
            </a:r>
            <a:endParaRPr lang="en-US" sz="4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200" b="1" kern="0" spc="-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deserves its own</a:t>
            </a:r>
            <a:endParaRPr lang="en-US" sz="4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200" b="1" kern="0" spc="-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13232" y="4617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ordering for cloud kitchens — and a far better way for their customers to eat.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549640" y="2057400"/>
            <a:ext cx="2926080" cy="658368"/>
          </a:xfrm>
          <a:prstGeom prst="roundRect">
            <a:avLst>
              <a:gd name="adj" fmla="val 19444"/>
            </a:avLst>
          </a:prstGeom>
          <a:solidFill>
            <a:srgbClr val="171723"/>
          </a:solidFill>
          <a:ln w="12700">
            <a:solidFill>
              <a:srgbClr val="1717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20574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last night, 8:04 pm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2971800"/>
            <a:ext cx="2926080" cy="658368"/>
          </a:xfrm>
          <a:prstGeom prst="roundRect">
            <a:avLst>
              <a:gd name="adj" fmla="val 19444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29718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for 12:30 today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49640" y="3886200"/>
            <a:ext cx="2926080" cy="658368"/>
          </a:xfrm>
          <a:prstGeom prst="roundRect">
            <a:avLst>
              <a:gd name="adj" fmla="val 19444"/>
            </a:avLst>
          </a:prstGeom>
          <a:solidFill>
            <a:srgbClr val="1C1C2B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3886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· 12:28 pm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·  Confidential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kitchens are growing. Their margins are not.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898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problems, and none of them are about the food.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383280" cy="2697480"/>
          </a:xfrm>
          <a:prstGeom prst="roundRect">
            <a:avLst>
              <a:gd name="adj" fmla="val 4746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51460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69848" y="31272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361188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part of every order goes to the platform that delivered it. The kitchen does the work and keeps the smaller half.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383280" cy="2697480"/>
          </a:xfrm>
          <a:prstGeom prst="roundRect">
            <a:avLst>
              <a:gd name="adj" fmla="val 4746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3168" y="2514600"/>
            <a:ext cx="402336" cy="40233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73168" y="31272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3168" y="361188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never learns who ordered, what they liked, or when they will be back. The platform keeps all of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2103120"/>
            <a:ext cx="3383280" cy="2697480"/>
          </a:xfrm>
          <a:prstGeom prst="roundRect">
            <a:avLst>
              <a:gd name="adj" fmla="val 4746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76488" y="2514600"/>
            <a:ext cx="402336" cy="40233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76488" y="31272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6488" y="361188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ranking change or a policy update can cut the orders off overnight, with no warning and no appeal.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230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renting their own customers.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57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Selly gives the kitchen a front door of its own.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898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9D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customers. Their orders. Their margin.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10789920" cy="1024128"/>
          </a:xfrm>
          <a:prstGeom prst="roundRect">
            <a:avLst>
              <a:gd name="adj" fmla="val 1250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404872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2258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order directly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49240" y="224942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It simply opens, and it works on the phone they already carry.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310128"/>
            <a:ext cx="10789920" cy="1024128"/>
          </a:xfrm>
          <a:prstGeom prst="roundRect">
            <a:avLst>
              <a:gd name="adj" fmla="val 1250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3611880"/>
            <a:ext cx="420624" cy="420624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34655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owns the relationship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49240" y="345643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customer, every repeat order, every preference stays with the kitchen — and stays useful.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517136"/>
            <a:ext cx="10789920" cy="1024128"/>
          </a:xfrm>
          <a:prstGeom prst="roundRect">
            <a:avLst>
              <a:gd name="adj" fmla="val 1250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4818888"/>
            <a:ext cx="420624" cy="420624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46725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sits in the middle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49240" y="46634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marketplace ranking to climb, no bidding for visibility, and no share of the bill going elsewhere.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742432"/>
            <a:ext cx="10789920" cy="749808"/>
          </a:xfrm>
          <a:prstGeom prst="roundRect">
            <a:avLst>
              <a:gd name="adj" fmla="val 17073"/>
            </a:avLst>
          </a:prstGeom>
          <a:solidFill>
            <a:srgbClr val="1C1C2B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5742432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keeps the order. </a:t>
            </a:r>
            <a:r>
              <a:rPr lang="en-US" sz="17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for the first time, the customer.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we earn.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898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9D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from the business. One from the habit.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57800" cy="3520440"/>
          </a:xfrm>
          <a:prstGeom prst="roundRect">
            <a:avLst>
              <a:gd name="adj" fmla="val 3636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423160"/>
            <a:ext cx="402336" cy="40233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51560" y="30358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Kitchens pay for the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91363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subscription for the ordering system, the customer list, and the tools that run the day.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956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9D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cut of what they sell.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257800" cy="3520440"/>
          </a:xfrm>
          <a:prstGeom prst="roundRect">
            <a:avLst>
              <a:gd name="adj" fmla="val 3636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423160"/>
            <a:ext cx="402336" cy="40233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30358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 for convenience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391363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monthly package that unlocks ordering on their own schedule, rather than on the kitchen's.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956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Nominal, recurring, entirely opt-in.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that grows with the kitchen — not one that shrinks its margin.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when you are free. Eat when you are hungry.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898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9D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 not order when they are hungry. They order when they have a minute.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789920" cy="1371600"/>
          </a:xfrm>
          <a:prstGeom prst="roundRect">
            <a:avLst>
              <a:gd name="adj" fmla="val 9333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D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8:04 PM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807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Tonight, while you have ten free minutes.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0" y="214884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2636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 PM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63640" y="28072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Tomorrow. Lunch arrives while you are still in a meeting.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721608"/>
            <a:ext cx="10789920" cy="1371600"/>
          </a:xfrm>
          <a:prstGeom prst="roundRect">
            <a:avLst>
              <a:gd name="adj" fmla="val 9333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904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11:20 PM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43799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thing before bed, you set tomorrow up.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3721608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3904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43799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is at the door before the day starts.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349240"/>
            <a:ext cx="3383280" cy="566928"/>
          </a:xfrm>
          <a:prstGeom prst="roundRect">
            <a:avLst>
              <a:gd name="adj" fmla="val 22581"/>
            </a:avLst>
          </a:prstGeom>
          <a:solidFill>
            <a:srgbClr val="1C1C2B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3492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ahead, at any hour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0" y="5349240"/>
            <a:ext cx="3383280" cy="566928"/>
          </a:xfrm>
          <a:prstGeom prst="roundRect">
            <a:avLst>
              <a:gd name="adj" fmla="val 22581"/>
            </a:avLst>
          </a:prstGeom>
          <a:solidFill>
            <a:srgbClr val="1C1C2B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53492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Early-morning delivery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2440" y="5349240"/>
            <a:ext cx="3383280" cy="566928"/>
          </a:xfrm>
          <a:prstGeom prst="roundRect">
            <a:avLst>
              <a:gd name="adj" fmla="val 22581"/>
            </a:avLst>
          </a:prstGeom>
          <a:solidFill>
            <a:srgbClr val="1C1C2B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53492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once, repeats daily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6108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monthly package unlocks.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Kitchens first. Not kitchens only.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898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9D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 not the food. It is letting a household take orders at all.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383280" cy="2697480"/>
          </a:xfrm>
          <a:prstGeom prst="roundRect">
            <a:avLst>
              <a:gd name="adj" fmla="val 4746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542032"/>
            <a:ext cx="402336" cy="40233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31272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services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9848" y="38862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loyal, most repeatable food business there is — and the worst served by technology.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383280" cy="2697480"/>
          </a:xfrm>
          <a:prstGeom prst="roundRect">
            <a:avLst>
              <a:gd name="adj" fmla="val 4746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542032"/>
            <a:ext cx="402336" cy="40233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31272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bakers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73168" y="38862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Occasion-led, order-ahead by nature, and already running on personal phone numbers.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2148840"/>
            <a:ext cx="3383280" cy="2697480"/>
          </a:xfrm>
          <a:prstGeom prst="roundRect">
            <a:avLst>
              <a:gd name="adj" fmla="val 4746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76488" y="2542032"/>
            <a:ext cx="402336" cy="402336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31272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&amp; home services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76488" y="38862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need exactly: take an order, agree a time, be reachable when it is ready.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230368"/>
            <a:ext cx="10789920" cy="749808"/>
          </a:xfrm>
          <a:prstGeom prst="roundRect">
            <a:avLst>
              <a:gd name="adj" fmla="val 17073"/>
            </a:avLst>
          </a:prstGeom>
          <a:solidFill>
            <a:srgbClr val="1C1C2B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523036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household with a skill becomes a business that can take an order.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like from you.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3898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that order — the first two are worth more to us right now than the last.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57800" cy="1572768"/>
          </a:xfrm>
          <a:prstGeom prst="roundRect">
            <a:avLst>
              <a:gd name="adj" fmla="val 814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86584"/>
            <a:ext cx="402336" cy="40233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73352" y="2331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73352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where this is thin. You will see holes we have stopped noticing.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257800" cy="1572768"/>
          </a:xfrm>
          <a:prstGeom prst="roundRect">
            <a:avLst>
              <a:gd name="adj" fmla="val 814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386584"/>
            <a:ext cx="402336" cy="40233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05472" y="2331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05472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next if this were yours? What would you stop doing?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5257800" cy="1572768"/>
          </a:xfrm>
          <a:prstGeom prst="roundRect">
            <a:avLst>
              <a:gd name="adj" fmla="val 814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169664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73352" y="4114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73352" y="45720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kitchen owner who would try it teaches us more than a month of building.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57800" cy="1572768"/>
          </a:xfrm>
          <a:prstGeom prst="roundRect">
            <a:avLst>
              <a:gd name="adj" fmla="val 814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169664"/>
            <a:ext cx="402336" cy="402336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05472" y="4114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05472" y="45720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properly, and to reach the kitchens faster than we can on our own.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5715000"/>
            <a:ext cx="4572000" cy="540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1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selly</a:t>
            </a:r>
            <a:r>
              <a:rPr lang="en-US" sz="2600" b="1" kern="0" spc="-1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229600" y="5779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941</Words>
  <Application>Microsoft Office PowerPoint</Application>
  <PresentationFormat>Widescreen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Selly — service pitch</dc:title>
  <dc:subject>PptxGenJS Presentation</dc:subject>
  <dc:creator>Selly</dc:creator>
  <cp:lastModifiedBy>Sakshi Shahani</cp:lastModifiedBy>
  <cp:revision>2</cp:revision>
  <dcterms:created xsi:type="dcterms:W3CDTF">2026-08-22T16:11:54Z</dcterms:created>
  <dcterms:modified xsi:type="dcterms:W3CDTF">2026-08-22T17:56:02Z</dcterms:modified>
</cp:coreProperties>
</file>