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sentence, not the software. A cloud kitchen today rents its customers from somebody else and pays rent on every order forever. We sell them a front door they own. The four bubbles on the right ARE the product — that is the whole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Point three is the one that lands with operators — ask any kitchen owner about a ranking change and you will get a story. Commission is the number; control is the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first three questions an investor will ask. Say plainly that we are not claiming a better app — we are claiming a better way of reaching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deck turns on. If they understand this one, everything after it is detail. Say it in one breath: the message is the doorbell, the web page is the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while the demo phone is on screen. The line that sells it is the last one: repeat ordering is two taps, and repeat is the entire economics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answers the 'why would a kitchen switch' question before it is asked. Owning the customer record is the thing aggregators structurally cannot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'isn't SMS dead?' Answer: SMS is dead for marketing and completely alive for transactions — OTPs, bank alerts, delivery updates. We are transactional.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investor with fintech experience will immediately test whether we have accidentally become a PA. The answer is no, by design, and this slide is the proof. It is also why we can charge a flat fee rather than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flat fee is the strategic choice, not just a price. It means our revenue does not grow when the kitchen raises prices — which is exactly why a kitchen trusts it. Be ready to defend it: yes, we leave money on the table on large orders.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assumptions before they do buys enormous credibility. If asked for LTV, be honest: we do not have enough operating history to state a retention curve yet, and a made-up one is worse than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dress this up. An investor who catches one inflated traction claim discounts everything else you said. 'One pilot kitchen and no revenue' delivered calmly is far stronger than a vague number, and the working demo does the persuading.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is the cleverest part and worth pausing on: the aggregator pays to acquire the customer, and the packaging converts them to direct. We ride their delivery fleet to win the repeat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'is this just a tool, or a network?' It starts as a tool for one kitchen and becomes a network once an area fills in. The tool has to be worth buying on day one regardless — and it is, because of the commission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TAM, resist quoting a research figure you cannot defend. Bottom-up from your own price is more credible in the room and cannot be picked apart. Offer the spreadsheet and let them change the inputs — that invitation is itself persuasive.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by conceding that the code is not the moat disarms the sharpest question in the room and makes the four real answers land as considered rather than defensive.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risks is a credibility move. The closing line is the one to say slowly — it shows you know which risk is real and are not hiding behind technical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ASK IN BEFORE YOU PRESENT. It is left blank deliberately — inventing a raise amount and a use of funds on your behalf would be the one thing in this deck you could not defend under questioning.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first three out loud and then stop talking. Leading with the money makes the rest sound like courtesy; leading with advice usually gets you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640080"/>
            <a:ext cx="4572000" cy="623455"/>
          </a:xfrm>
          <a:prstGeom prst="rect">
            <a:avLst/>
          </a:prstGeom>
          <a:noFill/>
          <a:ln/>
        </p:spPr>
        <p:txBody>
          <a:bodyPr wrap="square" lIns="0" tIns="0" rIns="0" bIns="0" rtlCol="0" anchor="ctr"/>
          <a:lstStyle/>
          <a:p>
            <a:pPr indent="0" marL="0">
              <a:buNone/>
            </a:pPr>
            <a:r>
              <a:rPr lang="en-US" sz="3000" b="1" spc="-100" kern="0" dirty="0">
                <a:solidFill>
                  <a:srgbClr val="F2F2F7"/>
                </a:solidFill>
                <a:latin typeface="Calibri" pitchFamily="34" charset="0"/>
                <a:ea typeface="Calibri" pitchFamily="34" charset="-122"/>
                <a:cs typeface="Calibri" pitchFamily="34" charset="-120"/>
              </a:rPr>
              <a:t>selly</a:t>
            </a:r>
            <a:pPr indent="0" marL="0">
              <a:buNone/>
            </a:pPr>
            <a:r>
              <a:rPr lang="en-US" sz="3000" b="1" spc="-100" kern="0" dirty="0">
                <a:solidFill>
                  <a:srgbClr val="25D366"/>
                </a:solidFill>
                <a:latin typeface="Calibri" pitchFamily="34" charset="0"/>
                <a:ea typeface="Calibri" pitchFamily="34" charset="-122"/>
                <a:cs typeface="Calibri" pitchFamily="34" charset="-120"/>
              </a:rPr>
              <a:t>.</a:t>
            </a:r>
            <a:endParaRPr lang="en-US" sz="3000" dirty="0"/>
          </a:p>
        </p:txBody>
      </p:sp>
      <p:sp>
        <p:nvSpPr>
          <p:cNvPr id="3" name="Text 1"/>
          <p:cNvSpPr/>
          <p:nvPr/>
        </p:nvSpPr>
        <p:spPr>
          <a:xfrm>
            <a:off x="640080" y="1828800"/>
            <a:ext cx="7498080" cy="2468880"/>
          </a:xfrm>
          <a:prstGeom prst="rect">
            <a:avLst/>
          </a:prstGeom>
          <a:noFill/>
          <a:ln/>
        </p:spPr>
        <p:txBody>
          <a:bodyPr wrap="square" lIns="0" tIns="0" rIns="0" bIns="0" rtlCol="0" anchor="t"/>
          <a:lstStyle/>
          <a:p>
            <a:pPr indent="0" marL="0">
              <a:lnSpc>
                <a:spcPts val="5000"/>
              </a:lnSpc>
              <a:buNone/>
            </a:pPr>
            <a:r>
              <a:rPr lang="en-US" sz="4200" b="1" spc="-50" kern="0" dirty="0">
                <a:solidFill>
                  <a:srgbClr val="F2F2F7"/>
                </a:solidFill>
                <a:latin typeface="Calibri" pitchFamily="34" charset="0"/>
                <a:ea typeface="Calibri" pitchFamily="34" charset="-122"/>
                <a:cs typeface="Calibri" pitchFamily="34" charset="-120"/>
              </a:rPr>
              <a:t>The ordering rail</a:t>
            </a:r>
            <a:endParaRPr lang="en-US" sz="4200" dirty="0"/>
          </a:p>
          <a:p>
            <a:pPr indent="0" marL="0">
              <a:lnSpc>
                <a:spcPts val="5000"/>
              </a:lnSpc>
              <a:buNone/>
            </a:pPr>
            <a:r>
              <a:rPr lang="en-US" sz="4200" b="1" spc="-50" kern="0" dirty="0">
                <a:solidFill>
                  <a:srgbClr val="F2F2F7"/>
                </a:solidFill>
                <a:latin typeface="Calibri" pitchFamily="34" charset="0"/>
                <a:ea typeface="Calibri" pitchFamily="34" charset="-122"/>
                <a:cs typeface="Calibri" pitchFamily="34" charset="-120"/>
              </a:rPr>
              <a:t>cloud kitchens</a:t>
            </a:r>
            <a:endParaRPr lang="en-US" sz="4200" dirty="0"/>
          </a:p>
          <a:p>
            <a:pPr indent="0" marL="0">
              <a:lnSpc>
                <a:spcPts val="5000"/>
              </a:lnSpc>
              <a:buNone/>
            </a:pPr>
            <a:r>
              <a:rPr lang="en-US" sz="4200" b="1" spc="-50" kern="0" dirty="0">
                <a:solidFill>
                  <a:srgbClr val="F2F2F7"/>
                </a:solidFill>
                <a:latin typeface="Calibri" pitchFamily="34" charset="0"/>
                <a:ea typeface="Calibri" pitchFamily="34" charset="-122"/>
                <a:cs typeface="Calibri" pitchFamily="34" charset="-120"/>
              </a:rPr>
              <a:t>actually own.</a:t>
            </a:r>
            <a:endParaRPr lang="en-US" sz="4200" dirty="0"/>
          </a:p>
        </p:txBody>
      </p:sp>
      <p:sp>
        <p:nvSpPr>
          <p:cNvPr id="4" name="Text 2"/>
          <p:cNvSpPr/>
          <p:nvPr/>
        </p:nvSpPr>
        <p:spPr>
          <a:xfrm>
            <a:off x="667512" y="4434840"/>
            <a:ext cx="7223760" cy="1097280"/>
          </a:xfrm>
          <a:prstGeom prst="rect">
            <a:avLst/>
          </a:prstGeom>
          <a:noFill/>
          <a:ln/>
        </p:spPr>
        <p:txBody>
          <a:bodyPr wrap="square" lIns="0" tIns="0" rIns="0" bIns="0" rtlCol="0" anchor="t"/>
          <a:lstStyle/>
          <a:p>
            <a:pPr indent="0" marL="0">
              <a:lnSpc>
                <a:spcPts val="2200"/>
              </a:lnSpc>
              <a:buNone/>
            </a:pPr>
            <a:r>
              <a:rPr lang="en-US" sz="1450" dirty="0">
                <a:solidFill>
                  <a:srgbClr val="9A9AB4"/>
                </a:solidFill>
                <a:latin typeface="Calibri" pitchFamily="34" charset="0"/>
                <a:ea typeface="Calibri" pitchFamily="34" charset="-122"/>
                <a:cs typeface="Calibri" pitchFamily="34" charset="-120"/>
              </a:rPr>
              <a:t>Direct ordering, delivery and payment for cloud kitchens — reaching every customer with a phone, without an app to install and without a platform in the middle taking a share of every plate.</a:t>
            </a:r>
            <a:endParaRPr lang="en-US" sz="1450" dirty="0"/>
          </a:p>
        </p:txBody>
      </p:sp>
      <p:sp>
        <p:nvSpPr>
          <p:cNvPr id="5" name="Shape 3"/>
          <p:cNvSpPr/>
          <p:nvPr/>
        </p:nvSpPr>
        <p:spPr>
          <a:xfrm>
            <a:off x="8366760" y="1874520"/>
            <a:ext cx="3154680" cy="640080"/>
          </a:xfrm>
          <a:prstGeom prst="roundRect">
            <a:avLst>
              <a:gd name="adj" fmla="val 17143"/>
            </a:avLst>
          </a:prstGeom>
          <a:solidFill>
            <a:srgbClr val="171723"/>
          </a:solidFill>
          <a:ln w="12700">
            <a:solidFill>
              <a:srgbClr val="2A2A3D"/>
            </a:solidFill>
            <a:prstDash val="solid"/>
          </a:ln>
        </p:spPr>
      </p:sp>
      <p:sp>
        <p:nvSpPr>
          <p:cNvPr id="6" name="Text 4"/>
          <p:cNvSpPr/>
          <p:nvPr/>
        </p:nvSpPr>
        <p:spPr>
          <a:xfrm>
            <a:off x="8595360" y="1874520"/>
            <a:ext cx="2743200" cy="640080"/>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You:  I want to order</a:t>
            </a:r>
            <a:endParaRPr lang="en-US" sz="1150" dirty="0"/>
          </a:p>
        </p:txBody>
      </p:sp>
      <p:sp>
        <p:nvSpPr>
          <p:cNvPr id="7" name="Shape 5"/>
          <p:cNvSpPr/>
          <p:nvPr/>
        </p:nvSpPr>
        <p:spPr>
          <a:xfrm>
            <a:off x="8366760" y="2743200"/>
            <a:ext cx="3154680" cy="640080"/>
          </a:xfrm>
          <a:prstGeom prst="roundRect">
            <a:avLst>
              <a:gd name="adj" fmla="val 17143"/>
            </a:avLst>
          </a:prstGeom>
          <a:solidFill>
            <a:srgbClr val="7C5CFF"/>
          </a:solidFill>
          <a:ln w="12700">
            <a:solidFill>
              <a:srgbClr val="7C5CFF"/>
            </a:solidFill>
            <a:prstDash val="solid"/>
          </a:ln>
        </p:spPr>
      </p:sp>
      <p:sp>
        <p:nvSpPr>
          <p:cNvPr id="8" name="Text 6"/>
          <p:cNvSpPr/>
          <p:nvPr/>
        </p:nvSpPr>
        <p:spPr>
          <a:xfrm>
            <a:off x="8595360" y="2743200"/>
            <a:ext cx="2743200" cy="6400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Selly:  Kitchens near you →</a:t>
            </a:r>
            <a:endParaRPr lang="en-US" sz="1150" dirty="0"/>
          </a:p>
        </p:txBody>
      </p:sp>
      <p:sp>
        <p:nvSpPr>
          <p:cNvPr id="9" name="Shape 7"/>
          <p:cNvSpPr/>
          <p:nvPr/>
        </p:nvSpPr>
        <p:spPr>
          <a:xfrm>
            <a:off x="8366760" y="3611880"/>
            <a:ext cx="3154680" cy="640080"/>
          </a:xfrm>
          <a:prstGeom prst="roundRect">
            <a:avLst>
              <a:gd name="adj" fmla="val 17143"/>
            </a:avLst>
          </a:prstGeom>
          <a:solidFill>
            <a:srgbClr val="171723"/>
          </a:solidFill>
          <a:ln w="12700">
            <a:solidFill>
              <a:srgbClr val="2A2A3D"/>
            </a:solidFill>
            <a:prstDash val="solid"/>
          </a:ln>
        </p:spPr>
      </p:sp>
      <p:sp>
        <p:nvSpPr>
          <p:cNvPr id="10" name="Text 8"/>
          <p:cNvSpPr/>
          <p:nvPr/>
        </p:nvSpPr>
        <p:spPr>
          <a:xfrm>
            <a:off x="8595360" y="3611880"/>
            <a:ext cx="2743200" cy="640080"/>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Order 09072 confirmed. Rs 150</a:t>
            </a:r>
            <a:endParaRPr lang="en-US" sz="1150" dirty="0"/>
          </a:p>
        </p:txBody>
      </p:sp>
      <p:sp>
        <p:nvSpPr>
          <p:cNvPr id="11" name="Shape 9"/>
          <p:cNvSpPr/>
          <p:nvPr/>
        </p:nvSpPr>
        <p:spPr>
          <a:xfrm>
            <a:off x="8366760" y="4480560"/>
            <a:ext cx="3154680" cy="640080"/>
          </a:xfrm>
          <a:prstGeom prst="roundRect">
            <a:avLst>
              <a:gd name="adj" fmla="val 17143"/>
            </a:avLst>
          </a:prstGeom>
          <a:solidFill>
            <a:srgbClr val="1C1C2B"/>
          </a:solidFill>
          <a:ln w="12700">
            <a:solidFill>
              <a:srgbClr val="2A2A3D"/>
            </a:solidFill>
            <a:prstDash val="solid"/>
          </a:ln>
        </p:spPr>
      </p:sp>
      <p:sp>
        <p:nvSpPr>
          <p:cNvPr id="12" name="Text 10"/>
          <p:cNvSpPr/>
          <p:nvPr/>
        </p:nvSpPr>
        <p:spPr>
          <a:xfrm>
            <a:off x="8595360" y="4480560"/>
            <a:ext cx="2743200" cy="640080"/>
          </a:xfrm>
          <a:prstGeom prst="rect">
            <a:avLst/>
          </a:prstGeom>
          <a:noFill/>
          <a:ln/>
        </p:spPr>
        <p:txBody>
          <a:bodyPr wrap="square" lIns="0" tIns="0" rIns="0" bIns="0" rtlCol="0" anchor="ctr"/>
          <a:lstStyle/>
          <a:p>
            <a:pPr indent="0" marL="0">
              <a:buNone/>
            </a:pPr>
            <a:r>
              <a:rPr lang="en-US" sz="1150" dirty="0">
                <a:solidFill>
                  <a:srgbClr val="25D366"/>
                </a:solidFill>
                <a:latin typeface="Calibri" pitchFamily="34" charset="0"/>
                <a:ea typeface="Calibri" pitchFamily="34" charset="-122"/>
                <a:cs typeface="Calibri" pitchFamily="34" charset="-120"/>
              </a:rPr>
              <a:t>Delivered. Tell us how it was →</a:t>
            </a:r>
            <a:endParaRPr lang="en-US" sz="1150" dirty="0"/>
          </a:p>
        </p:txBody>
      </p:sp>
      <p:sp>
        <p:nvSpPr>
          <p:cNvPr id="13" name="Text 11"/>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Cloud kitchens are growing. Their margins are not.</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Three problems, and not one of them is about the food.</a:t>
            </a:r>
            <a:endParaRPr lang="en-US" sz="1550" dirty="0"/>
          </a:p>
        </p:txBody>
      </p:sp>
      <p:sp>
        <p:nvSpPr>
          <p:cNvPr id="4" name="Shape 2"/>
          <p:cNvSpPr/>
          <p:nvPr/>
        </p:nvSpPr>
        <p:spPr>
          <a:xfrm>
            <a:off x="640080" y="1965960"/>
            <a:ext cx="3429000" cy="3200400"/>
          </a:xfrm>
          <a:prstGeom prst="roundRect">
            <a:avLst>
              <a:gd name="adj" fmla="val 3429"/>
            </a:avLst>
          </a:prstGeom>
          <a:solidFill>
            <a:srgbClr val="171723"/>
          </a:solidFill>
          <a:ln w="12700">
            <a:solidFill>
              <a:srgbClr val="2A2A3D"/>
            </a:solidFill>
            <a:prstDash val="solid"/>
          </a:ln>
        </p:spPr>
      </p:sp>
      <p:sp>
        <p:nvSpPr>
          <p:cNvPr id="5" name="Shape 3"/>
          <p:cNvSpPr/>
          <p:nvPr/>
        </p:nvSpPr>
        <p:spPr>
          <a:xfrm>
            <a:off x="1005840" y="2331720"/>
            <a:ext cx="384048" cy="384048"/>
          </a:xfrm>
          <a:prstGeom prst="ellipse">
            <a:avLst/>
          </a:prstGeom>
          <a:solidFill>
            <a:srgbClr val="F96167"/>
          </a:solidFill>
          <a:ln w="12700">
            <a:solidFill>
              <a:srgbClr val="F96167"/>
            </a:solidFill>
            <a:prstDash val="solid"/>
          </a:ln>
        </p:spPr>
      </p:sp>
      <p:sp>
        <p:nvSpPr>
          <p:cNvPr id="6" name="Text 4"/>
          <p:cNvSpPr/>
          <p:nvPr/>
        </p:nvSpPr>
        <p:spPr>
          <a:xfrm>
            <a:off x="100584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05840" y="2926080"/>
            <a:ext cx="2743200" cy="384048"/>
          </a:xfrm>
          <a:prstGeom prst="rect">
            <a:avLst/>
          </a:prstGeom>
          <a:noFill/>
          <a:ln/>
        </p:spPr>
        <p:txBody>
          <a:bodyPr wrap="square" lIns="0" tIns="0" rIns="0" bIns="0" rtlCol="0" anchor="t"/>
          <a:lstStyle/>
          <a:p>
            <a:pPr indent="0" marL="0">
              <a:buNone/>
            </a:pPr>
            <a:r>
              <a:rPr lang="en-US" sz="1700" b="1" dirty="0">
                <a:solidFill>
                  <a:srgbClr val="F2F2F7"/>
                </a:solidFill>
                <a:latin typeface="Calibri" pitchFamily="34" charset="0"/>
                <a:ea typeface="Calibri" pitchFamily="34" charset="-122"/>
                <a:cs typeface="Calibri" pitchFamily="34" charset="-120"/>
              </a:rPr>
              <a:t>The commission</a:t>
            </a:r>
            <a:endParaRPr lang="en-US" sz="1700" dirty="0"/>
          </a:p>
        </p:txBody>
      </p:sp>
      <p:sp>
        <p:nvSpPr>
          <p:cNvPr id="8" name="Text 6"/>
          <p:cNvSpPr/>
          <p:nvPr/>
        </p:nvSpPr>
        <p:spPr>
          <a:xfrm>
            <a:off x="1005840" y="3383280"/>
            <a:ext cx="2743200" cy="16002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Aggregator commissions run at roughly a quarter to a third of order value, before ad spend and discounts. On a Rs 400 order the kitchen can hand over Rs 100 or more — on food it cooked, in a kitchen it rents, with staff it pays.</a:t>
            </a:r>
            <a:endParaRPr lang="en-US" sz="1150" dirty="0"/>
          </a:p>
        </p:txBody>
      </p:sp>
      <p:sp>
        <p:nvSpPr>
          <p:cNvPr id="9" name="Shape 7"/>
          <p:cNvSpPr/>
          <p:nvPr/>
        </p:nvSpPr>
        <p:spPr>
          <a:xfrm>
            <a:off x="4389120" y="1965960"/>
            <a:ext cx="3429000" cy="3200400"/>
          </a:xfrm>
          <a:prstGeom prst="roundRect">
            <a:avLst>
              <a:gd name="adj" fmla="val 3429"/>
            </a:avLst>
          </a:prstGeom>
          <a:solidFill>
            <a:srgbClr val="171723"/>
          </a:solidFill>
          <a:ln w="12700">
            <a:solidFill>
              <a:srgbClr val="2A2A3D"/>
            </a:solidFill>
            <a:prstDash val="solid"/>
          </a:ln>
        </p:spPr>
      </p:sp>
      <p:sp>
        <p:nvSpPr>
          <p:cNvPr id="10" name="Shape 8"/>
          <p:cNvSpPr/>
          <p:nvPr/>
        </p:nvSpPr>
        <p:spPr>
          <a:xfrm>
            <a:off x="4754880" y="2331720"/>
            <a:ext cx="384048" cy="384048"/>
          </a:xfrm>
          <a:prstGeom prst="ellipse">
            <a:avLst/>
          </a:prstGeom>
          <a:solidFill>
            <a:srgbClr val="F5A524"/>
          </a:solidFill>
          <a:ln w="12700">
            <a:solidFill>
              <a:srgbClr val="F5A524"/>
            </a:solidFill>
            <a:prstDash val="solid"/>
          </a:ln>
        </p:spPr>
      </p:sp>
      <p:sp>
        <p:nvSpPr>
          <p:cNvPr id="11" name="Text 9"/>
          <p:cNvSpPr/>
          <p:nvPr/>
        </p:nvSpPr>
        <p:spPr>
          <a:xfrm>
            <a:off x="475488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754880" y="2926080"/>
            <a:ext cx="2743200" cy="384048"/>
          </a:xfrm>
          <a:prstGeom prst="rect">
            <a:avLst/>
          </a:prstGeom>
          <a:noFill/>
          <a:ln/>
        </p:spPr>
        <p:txBody>
          <a:bodyPr wrap="square" lIns="0" tIns="0" rIns="0" bIns="0" rtlCol="0" anchor="t"/>
          <a:lstStyle/>
          <a:p>
            <a:pPr indent="0" marL="0">
              <a:buNone/>
            </a:pPr>
            <a:r>
              <a:rPr lang="en-US" sz="1700" b="1" dirty="0">
                <a:solidFill>
                  <a:srgbClr val="F2F2F7"/>
                </a:solidFill>
                <a:latin typeface="Calibri" pitchFamily="34" charset="0"/>
                <a:ea typeface="Calibri" pitchFamily="34" charset="-122"/>
                <a:cs typeface="Calibri" pitchFamily="34" charset="-120"/>
              </a:rPr>
              <a:t>No customer</a:t>
            </a:r>
            <a:endParaRPr lang="en-US" sz="1700" dirty="0"/>
          </a:p>
        </p:txBody>
      </p:sp>
      <p:sp>
        <p:nvSpPr>
          <p:cNvPr id="13" name="Text 11"/>
          <p:cNvSpPr/>
          <p:nvPr/>
        </p:nvSpPr>
        <p:spPr>
          <a:xfrm>
            <a:off x="4754880" y="3383280"/>
            <a:ext cx="2743200" cy="16002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The kitchen never learns who ordered, what they liked, or when they will be back. That record is the single most valuable asset a food business can have, and it sits on somebody else's server.</a:t>
            </a:r>
            <a:endParaRPr lang="en-US" sz="1150" dirty="0"/>
          </a:p>
        </p:txBody>
      </p:sp>
      <p:sp>
        <p:nvSpPr>
          <p:cNvPr id="14" name="Shape 12"/>
          <p:cNvSpPr/>
          <p:nvPr/>
        </p:nvSpPr>
        <p:spPr>
          <a:xfrm>
            <a:off x="8138160" y="1965960"/>
            <a:ext cx="3429000" cy="3200400"/>
          </a:xfrm>
          <a:prstGeom prst="roundRect">
            <a:avLst>
              <a:gd name="adj" fmla="val 3429"/>
            </a:avLst>
          </a:prstGeom>
          <a:solidFill>
            <a:srgbClr val="171723"/>
          </a:solidFill>
          <a:ln w="12700">
            <a:solidFill>
              <a:srgbClr val="2A2A3D"/>
            </a:solidFill>
            <a:prstDash val="solid"/>
          </a:ln>
        </p:spPr>
      </p:sp>
      <p:sp>
        <p:nvSpPr>
          <p:cNvPr id="15" name="Shape 13"/>
          <p:cNvSpPr/>
          <p:nvPr/>
        </p:nvSpPr>
        <p:spPr>
          <a:xfrm>
            <a:off x="8503920" y="2331720"/>
            <a:ext cx="384048" cy="384048"/>
          </a:xfrm>
          <a:prstGeom prst="ellipse">
            <a:avLst/>
          </a:prstGeom>
          <a:solidFill>
            <a:srgbClr val="7C5CFF"/>
          </a:solidFill>
          <a:ln w="12700">
            <a:solidFill>
              <a:srgbClr val="7C5CFF"/>
            </a:solidFill>
            <a:prstDash val="solid"/>
          </a:ln>
        </p:spPr>
      </p:sp>
      <p:sp>
        <p:nvSpPr>
          <p:cNvPr id="16" name="Text 14"/>
          <p:cNvSpPr/>
          <p:nvPr/>
        </p:nvSpPr>
        <p:spPr>
          <a:xfrm>
            <a:off x="850392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503920" y="2926080"/>
            <a:ext cx="2743200" cy="384048"/>
          </a:xfrm>
          <a:prstGeom prst="rect">
            <a:avLst/>
          </a:prstGeom>
          <a:noFill/>
          <a:ln/>
        </p:spPr>
        <p:txBody>
          <a:bodyPr wrap="square" lIns="0" tIns="0" rIns="0" bIns="0" rtlCol="0" anchor="t"/>
          <a:lstStyle/>
          <a:p>
            <a:pPr indent="0" marL="0">
              <a:buNone/>
            </a:pPr>
            <a:r>
              <a:rPr lang="en-US" sz="1700" b="1" dirty="0">
                <a:solidFill>
                  <a:srgbClr val="F2F2F7"/>
                </a:solidFill>
                <a:latin typeface="Calibri" pitchFamily="34" charset="0"/>
                <a:ea typeface="Calibri" pitchFamily="34" charset="-122"/>
                <a:cs typeface="Calibri" pitchFamily="34" charset="-120"/>
              </a:rPr>
              <a:t>No control</a:t>
            </a:r>
            <a:endParaRPr lang="en-US" sz="1700" dirty="0"/>
          </a:p>
        </p:txBody>
      </p:sp>
      <p:sp>
        <p:nvSpPr>
          <p:cNvPr id="18" name="Text 16"/>
          <p:cNvSpPr/>
          <p:nvPr/>
        </p:nvSpPr>
        <p:spPr>
          <a:xfrm>
            <a:off x="8503920" y="3383280"/>
            <a:ext cx="2743200" cy="16002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A ranking change, a policy update, or a new fee can cut order flow overnight. There is no warning and no appeal. A business built entirely on that is not really the founder's business.</a:t>
            </a:r>
            <a:endParaRPr lang="en-US" sz="1150" dirty="0"/>
          </a:p>
        </p:txBody>
      </p:sp>
      <p:sp>
        <p:nvSpPr>
          <p:cNvPr id="19" name="Text 17"/>
          <p:cNvSpPr/>
          <p:nvPr/>
        </p:nvSpPr>
        <p:spPr>
          <a:xfrm>
            <a:off x="640080" y="5440680"/>
            <a:ext cx="10972800" cy="457200"/>
          </a:xfrm>
          <a:prstGeom prst="rect">
            <a:avLst/>
          </a:prstGeom>
          <a:noFill/>
          <a:ln/>
        </p:spPr>
        <p:txBody>
          <a:bodyPr wrap="square" lIns="0" tIns="0" rIns="0" bIns="0" rtlCol="0" anchor="t"/>
          <a:lstStyle/>
          <a:p>
            <a:pPr indent="0" marL="0">
              <a:buNone/>
            </a:pPr>
            <a:r>
              <a:rPr lang="en-US" sz="1500" i="1" dirty="0">
                <a:solidFill>
                  <a:srgbClr val="9D87FF"/>
                </a:solidFill>
                <a:latin typeface="Calibri" pitchFamily="34" charset="0"/>
                <a:ea typeface="Calibri" pitchFamily="34" charset="-122"/>
                <a:cs typeface="Calibri" pitchFamily="34" charset="-120"/>
              </a:rPr>
              <a:t>The kitchen carries every cost of the meal and keeps the smaller half of the money.</a:t>
            </a:r>
            <a:endParaRPr lang="en-US" sz="1500" dirty="0"/>
          </a:p>
        </p:txBody>
      </p:sp>
      <p:sp>
        <p:nvSpPr>
          <p:cNvPr id="20" name="Text 18"/>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Going direct is obvious. Nobody has made it work.</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Four attempts, and four reasons each one stalls.</a:t>
            </a:r>
            <a:endParaRPr lang="en-US" sz="1550" dirty="0"/>
          </a:p>
        </p:txBody>
      </p:sp>
      <p:sp>
        <p:nvSpPr>
          <p:cNvPr id="4" name="Shape 2"/>
          <p:cNvSpPr/>
          <p:nvPr/>
        </p:nvSpPr>
        <p:spPr>
          <a:xfrm>
            <a:off x="640080" y="1920240"/>
            <a:ext cx="10881360" cy="914400"/>
          </a:xfrm>
          <a:prstGeom prst="roundRect">
            <a:avLst>
              <a:gd name="adj" fmla="val 12000"/>
            </a:avLst>
          </a:prstGeom>
          <a:solidFill>
            <a:srgbClr val="171723"/>
          </a:solidFill>
          <a:ln w="12700">
            <a:solidFill>
              <a:srgbClr val="2A2A3D"/>
            </a:solidFill>
            <a:prstDash val="solid"/>
          </a:ln>
        </p:spPr>
      </p:sp>
      <p:sp>
        <p:nvSpPr>
          <p:cNvPr id="5" name="Text 3"/>
          <p:cNvSpPr/>
          <p:nvPr/>
        </p:nvSpPr>
        <p:spPr>
          <a:xfrm>
            <a:off x="960120" y="1920240"/>
            <a:ext cx="3017520" cy="914400"/>
          </a:xfrm>
          <a:prstGeom prst="rect">
            <a:avLst/>
          </a:prstGeom>
          <a:noFill/>
          <a:ln/>
        </p:spPr>
        <p:txBody>
          <a:bodyPr wrap="square" lIns="0" tIns="0" rIns="0" bIns="0" rtlCol="0" anchor="ctr"/>
          <a:lstStyle/>
          <a:p>
            <a:pPr indent="0" marL="0">
              <a:buNone/>
            </a:pPr>
            <a:r>
              <a:rPr lang="en-US" sz="1450" b="1" dirty="0">
                <a:solidFill>
                  <a:srgbClr val="F96167"/>
                </a:solidFill>
                <a:latin typeface="Calibri" pitchFamily="34" charset="0"/>
                <a:ea typeface="Calibri" pitchFamily="34" charset="-122"/>
                <a:cs typeface="Calibri" pitchFamily="34" charset="-120"/>
              </a:rPr>
              <a:t>Build your own app</a:t>
            </a:r>
            <a:endParaRPr lang="en-US" sz="1450" dirty="0"/>
          </a:p>
        </p:txBody>
      </p:sp>
      <p:sp>
        <p:nvSpPr>
          <p:cNvPr id="6" name="Text 4"/>
          <p:cNvSpPr/>
          <p:nvPr/>
        </p:nvSpPr>
        <p:spPr>
          <a:xfrm>
            <a:off x="4114800" y="1920240"/>
            <a:ext cx="7178040" cy="914400"/>
          </a:xfrm>
          <a:prstGeom prst="rect">
            <a:avLst/>
          </a:prstGeom>
          <a:noFill/>
          <a:ln/>
        </p:spPr>
        <p:txBody>
          <a:bodyPr wrap="square" lIns="0" tIns="0" rIns="0" bIns="0" rtlCol="0" anchor="ctr"/>
          <a:lstStyle/>
          <a:p>
            <a:pPr indent="0" marL="0">
              <a:lnSpc>
                <a:spcPts val="1600"/>
              </a:lnSpc>
              <a:buNone/>
            </a:pPr>
            <a:r>
              <a:rPr lang="en-US" sz="1200" dirty="0">
                <a:solidFill>
                  <a:srgbClr val="9A9AB4"/>
                </a:solidFill>
                <a:latin typeface="Calibri" pitchFamily="34" charset="0"/>
                <a:ea typeface="Calibri" pitchFamily="34" charset="-122"/>
                <a:cs typeface="Calibri" pitchFamily="34" charset="-120"/>
              </a:rPr>
              <a:t>Nobody installs an app for one kitchen. The cost of winning an install exceeds what a single kitchen earns from that customer — the maths never closes.</a:t>
            </a:r>
            <a:endParaRPr lang="en-US" sz="1200" dirty="0"/>
          </a:p>
        </p:txBody>
      </p:sp>
      <p:sp>
        <p:nvSpPr>
          <p:cNvPr id="7" name="Shape 5"/>
          <p:cNvSpPr/>
          <p:nvPr/>
        </p:nvSpPr>
        <p:spPr>
          <a:xfrm>
            <a:off x="640080" y="2971800"/>
            <a:ext cx="10881360" cy="914400"/>
          </a:xfrm>
          <a:prstGeom prst="roundRect">
            <a:avLst>
              <a:gd name="adj" fmla="val 12000"/>
            </a:avLst>
          </a:prstGeom>
          <a:solidFill>
            <a:srgbClr val="171723"/>
          </a:solidFill>
          <a:ln w="12700">
            <a:solidFill>
              <a:srgbClr val="2A2A3D"/>
            </a:solidFill>
            <a:prstDash val="solid"/>
          </a:ln>
        </p:spPr>
      </p:sp>
      <p:sp>
        <p:nvSpPr>
          <p:cNvPr id="8" name="Text 6"/>
          <p:cNvSpPr/>
          <p:nvPr/>
        </p:nvSpPr>
        <p:spPr>
          <a:xfrm>
            <a:off x="960120" y="2971800"/>
            <a:ext cx="3017520" cy="914400"/>
          </a:xfrm>
          <a:prstGeom prst="rect">
            <a:avLst/>
          </a:prstGeom>
          <a:noFill/>
          <a:ln/>
        </p:spPr>
        <p:txBody>
          <a:bodyPr wrap="square" lIns="0" tIns="0" rIns="0" bIns="0" rtlCol="0" anchor="ctr"/>
          <a:lstStyle/>
          <a:p>
            <a:pPr indent="0" marL="0">
              <a:buNone/>
            </a:pPr>
            <a:r>
              <a:rPr lang="en-US" sz="1450" b="1" dirty="0">
                <a:solidFill>
                  <a:srgbClr val="F96167"/>
                </a:solidFill>
                <a:latin typeface="Calibri" pitchFamily="34" charset="0"/>
                <a:ea typeface="Calibri" pitchFamily="34" charset="-122"/>
                <a:cs typeface="Calibri" pitchFamily="34" charset="-120"/>
              </a:rPr>
              <a:t>WhatsApp Business API</a:t>
            </a:r>
            <a:endParaRPr lang="en-US" sz="1450" dirty="0"/>
          </a:p>
        </p:txBody>
      </p:sp>
      <p:sp>
        <p:nvSpPr>
          <p:cNvPr id="9" name="Text 7"/>
          <p:cNvSpPr/>
          <p:nvPr/>
        </p:nvSpPr>
        <p:spPr>
          <a:xfrm>
            <a:off x="4114800" y="2971800"/>
            <a:ext cx="7178040" cy="914400"/>
          </a:xfrm>
          <a:prstGeom prst="rect">
            <a:avLst/>
          </a:prstGeom>
          <a:noFill/>
          <a:ln/>
        </p:spPr>
        <p:txBody>
          <a:bodyPr wrap="square" lIns="0" tIns="0" rIns="0" bIns="0" rtlCol="0" anchor="ctr"/>
          <a:lstStyle/>
          <a:p>
            <a:pPr indent="0" marL="0">
              <a:lnSpc>
                <a:spcPts val="1600"/>
              </a:lnSpc>
              <a:buNone/>
            </a:pPr>
            <a:r>
              <a:rPr lang="en-US" sz="1200" dirty="0">
                <a:solidFill>
                  <a:srgbClr val="9A9AB4"/>
                </a:solidFill>
                <a:latin typeface="Calibri" pitchFamily="34" charset="0"/>
                <a:ea typeface="Calibri" pitchFamily="34" charset="-122"/>
                <a:cs typeface="Calibri" pitchFamily="34" charset="-120"/>
              </a:rPr>
              <a:t>Meta owns the channel, prices it per conversation, approves every template and can revoke access. It replaces one landlord with another.</a:t>
            </a:r>
            <a:endParaRPr lang="en-US" sz="1200" dirty="0"/>
          </a:p>
        </p:txBody>
      </p:sp>
      <p:sp>
        <p:nvSpPr>
          <p:cNvPr id="10" name="Shape 8"/>
          <p:cNvSpPr/>
          <p:nvPr/>
        </p:nvSpPr>
        <p:spPr>
          <a:xfrm>
            <a:off x="640080" y="4023360"/>
            <a:ext cx="10881360" cy="914400"/>
          </a:xfrm>
          <a:prstGeom prst="roundRect">
            <a:avLst>
              <a:gd name="adj" fmla="val 12000"/>
            </a:avLst>
          </a:prstGeom>
          <a:solidFill>
            <a:srgbClr val="171723"/>
          </a:solidFill>
          <a:ln w="12700">
            <a:solidFill>
              <a:srgbClr val="2A2A3D"/>
            </a:solidFill>
            <a:prstDash val="solid"/>
          </a:ln>
        </p:spPr>
      </p:sp>
      <p:sp>
        <p:nvSpPr>
          <p:cNvPr id="11" name="Text 9"/>
          <p:cNvSpPr/>
          <p:nvPr/>
        </p:nvSpPr>
        <p:spPr>
          <a:xfrm>
            <a:off x="960120" y="4023360"/>
            <a:ext cx="3017520" cy="914400"/>
          </a:xfrm>
          <a:prstGeom prst="rect">
            <a:avLst/>
          </a:prstGeom>
          <a:noFill/>
          <a:ln/>
        </p:spPr>
        <p:txBody>
          <a:bodyPr wrap="square" lIns="0" tIns="0" rIns="0" bIns="0" rtlCol="0" anchor="ctr"/>
          <a:lstStyle/>
          <a:p>
            <a:pPr indent="0" marL="0">
              <a:buNone/>
            </a:pPr>
            <a:r>
              <a:rPr lang="en-US" sz="1450" b="1" dirty="0">
                <a:solidFill>
                  <a:srgbClr val="F96167"/>
                </a:solidFill>
                <a:latin typeface="Calibri" pitchFamily="34" charset="0"/>
                <a:ea typeface="Calibri" pitchFamily="34" charset="-122"/>
                <a:cs typeface="Calibri" pitchFamily="34" charset="-120"/>
              </a:rPr>
              <a:t>Instagram DMs and phone calls</a:t>
            </a:r>
            <a:endParaRPr lang="en-US" sz="1450" dirty="0"/>
          </a:p>
        </p:txBody>
      </p:sp>
      <p:sp>
        <p:nvSpPr>
          <p:cNvPr id="12" name="Text 10"/>
          <p:cNvSpPr/>
          <p:nvPr/>
        </p:nvSpPr>
        <p:spPr>
          <a:xfrm>
            <a:off x="4114800" y="4023360"/>
            <a:ext cx="7178040" cy="914400"/>
          </a:xfrm>
          <a:prstGeom prst="rect">
            <a:avLst/>
          </a:prstGeom>
          <a:noFill/>
          <a:ln/>
        </p:spPr>
        <p:txBody>
          <a:bodyPr wrap="square" lIns="0" tIns="0" rIns="0" bIns="0" rtlCol="0" anchor="ctr"/>
          <a:lstStyle/>
          <a:p>
            <a:pPr indent="0" marL="0">
              <a:lnSpc>
                <a:spcPts val="1600"/>
              </a:lnSpc>
              <a:buNone/>
            </a:pPr>
            <a:r>
              <a:rPr lang="en-US" sz="1200" dirty="0">
                <a:solidFill>
                  <a:srgbClr val="9A9AB4"/>
                </a:solidFill>
                <a:latin typeface="Calibri" pitchFamily="34" charset="0"/>
                <a:ea typeface="Calibri" pitchFamily="34" charset="-122"/>
                <a:cs typeface="Calibri" pitchFamily="34" charset="-120"/>
              </a:rPr>
              <a:t>Human, unscalable, no record and no payment. Orders get lost at eleven at night when the kitchen is busiest.</a:t>
            </a:r>
            <a:endParaRPr lang="en-US" sz="1200" dirty="0"/>
          </a:p>
        </p:txBody>
      </p:sp>
      <p:sp>
        <p:nvSpPr>
          <p:cNvPr id="13" name="Shape 11"/>
          <p:cNvSpPr/>
          <p:nvPr/>
        </p:nvSpPr>
        <p:spPr>
          <a:xfrm>
            <a:off x="640080" y="5074920"/>
            <a:ext cx="10881360" cy="914400"/>
          </a:xfrm>
          <a:prstGeom prst="roundRect">
            <a:avLst>
              <a:gd name="adj" fmla="val 12000"/>
            </a:avLst>
          </a:prstGeom>
          <a:solidFill>
            <a:srgbClr val="171723"/>
          </a:solidFill>
          <a:ln w="12700">
            <a:solidFill>
              <a:srgbClr val="2A2A3D"/>
            </a:solidFill>
            <a:prstDash val="solid"/>
          </a:ln>
        </p:spPr>
      </p:sp>
      <p:sp>
        <p:nvSpPr>
          <p:cNvPr id="14" name="Text 12"/>
          <p:cNvSpPr/>
          <p:nvPr/>
        </p:nvSpPr>
        <p:spPr>
          <a:xfrm>
            <a:off x="960120" y="5074920"/>
            <a:ext cx="3017520" cy="914400"/>
          </a:xfrm>
          <a:prstGeom prst="rect">
            <a:avLst/>
          </a:prstGeom>
          <a:noFill/>
          <a:ln/>
        </p:spPr>
        <p:txBody>
          <a:bodyPr wrap="square" lIns="0" tIns="0" rIns="0" bIns="0" rtlCol="0" anchor="ctr"/>
          <a:lstStyle/>
          <a:p>
            <a:pPr indent="0" marL="0">
              <a:buNone/>
            </a:pPr>
            <a:r>
              <a:rPr lang="en-US" sz="1450" b="1" dirty="0">
                <a:solidFill>
                  <a:srgbClr val="F96167"/>
                </a:solidFill>
                <a:latin typeface="Calibri" pitchFamily="34" charset="0"/>
                <a:ea typeface="Calibri" pitchFamily="34" charset="-122"/>
                <a:cs typeface="Calibri" pitchFamily="34" charset="-120"/>
              </a:rPr>
              <a:t>A website nobody visits</a:t>
            </a:r>
            <a:endParaRPr lang="en-US" sz="1450" dirty="0"/>
          </a:p>
        </p:txBody>
      </p:sp>
      <p:sp>
        <p:nvSpPr>
          <p:cNvPr id="15" name="Text 13"/>
          <p:cNvSpPr/>
          <p:nvPr/>
        </p:nvSpPr>
        <p:spPr>
          <a:xfrm>
            <a:off x="4114800" y="5074920"/>
            <a:ext cx="7178040" cy="914400"/>
          </a:xfrm>
          <a:prstGeom prst="rect">
            <a:avLst/>
          </a:prstGeom>
          <a:noFill/>
          <a:ln/>
        </p:spPr>
        <p:txBody>
          <a:bodyPr wrap="square" lIns="0" tIns="0" rIns="0" bIns="0" rtlCol="0" anchor="ctr"/>
          <a:lstStyle/>
          <a:p>
            <a:pPr indent="0" marL="0">
              <a:lnSpc>
                <a:spcPts val="1600"/>
              </a:lnSpc>
              <a:buNone/>
            </a:pPr>
            <a:r>
              <a:rPr lang="en-US" sz="1200" dirty="0">
                <a:solidFill>
                  <a:srgbClr val="9A9AB4"/>
                </a:solidFill>
                <a:latin typeface="Calibri" pitchFamily="34" charset="0"/>
                <a:ea typeface="Calibri" pitchFamily="34" charset="-122"/>
                <a:cs typeface="Calibri" pitchFamily="34" charset="-120"/>
              </a:rPr>
              <a:t>A link with no way to reach the customer is a shop on an empty street. Distribution is the problem, not the page.</a:t>
            </a:r>
            <a:endParaRPr lang="en-US" sz="1200" dirty="0"/>
          </a:p>
        </p:txBody>
      </p:sp>
      <p:sp>
        <p:nvSpPr>
          <p:cNvPr id="16" name="Text 14"/>
          <p:cNvSpPr/>
          <p:nvPr/>
        </p:nvSpPr>
        <p:spPr>
          <a:xfrm>
            <a:off x="640080" y="6263640"/>
            <a:ext cx="10972800" cy="411480"/>
          </a:xfrm>
          <a:prstGeom prst="rect">
            <a:avLst/>
          </a:prstGeom>
          <a:noFill/>
          <a:ln/>
        </p:spPr>
        <p:txBody>
          <a:bodyPr wrap="square" lIns="0" tIns="0" rIns="0" bIns="0" rtlCol="0" anchor="t"/>
          <a:lstStyle/>
          <a:p>
            <a:pPr indent="0" marL="0">
              <a:buNone/>
            </a:pPr>
            <a:r>
              <a:rPr lang="en-US" sz="1400" i="1" dirty="0">
                <a:solidFill>
                  <a:srgbClr val="9D87FF"/>
                </a:solidFill>
                <a:latin typeface="Calibri" pitchFamily="34" charset="0"/>
                <a:ea typeface="Calibri" pitchFamily="34" charset="-122"/>
                <a:cs typeface="Calibri" pitchFamily="34" charset="-120"/>
              </a:rPr>
              <a:t>Each fails on distribution — not on product. So distribution is what we built.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The insight: separate reach from screen.</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A message cannot carry a menu. It can carry the door to one.</a:t>
            </a:r>
            <a:endParaRPr lang="en-US" sz="1550" dirty="0"/>
          </a:p>
        </p:txBody>
      </p:sp>
      <p:sp>
        <p:nvSpPr>
          <p:cNvPr id="4" name="Shape 2"/>
          <p:cNvSpPr/>
          <p:nvPr/>
        </p:nvSpPr>
        <p:spPr>
          <a:xfrm>
            <a:off x="640080" y="1920240"/>
            <a:ext cx="5303520" cy="3200400"/>
          </a:xfrm>
          <a:prstGeom prst="roundRect">
            <a:avLst>
              <a:gd name="adj" fmla="val 3429"/>
            </a:avLst>
          </a:prstGeom>
          <a:solidFill>
            <a:srgbClr val="171723"/>
          </a:solidFill>
          <a:ln w="12700">
            <a:solidFill>
              <a:srgbClr val="2A2A3D"/>
            </a:solidFill>
            <a:prstDash val="solid"/>
          </a:ln>
        </p:spPr>
      </p:sp>
      <p:sp>
        <p:nvSpPr>
          <p:cNvPr id="5" name="Text 3"/>
          <p:cNvSpPr/>
          <p:nvPr/>
        </p:nvSpPr>
        <p:spPr>
          <a:xfrm>
            <a:off x="1005840" y="2194560"/>
            <a:ext cx="4572000" cy="411480"/>
          </a:xfrm>
          <a:prstGeom prst="rect">
            <a:avLst/>
          </a:prstGeom>
          <a:noFill/>
          <a:ln/>
        </p:spPr>
        <p:txBody>
          <a:bodyPr wrap="square" lIns="0" tIns="0" rIns="0" bIns="0" rtlCol="0" anchor="t"/>
          <a:lstStyle/>
          <a:p>
            <a:pPr indent="0" marL="0">
              <a:buNone/>
            </a:pPr>
            <a:r>
              <a:rPr lang="en-US" sz="1500" b="1" spc="100" kern="0" dirty="0">
                <a:solidFill>
                  <a:srgbClr val="F5A524"/>
                </a:solidFill>
                <a:latin typeface="Calibri" pitchFamily="34" charset="0"/>
                <a:ea typeface="Calibri" pitchFamily="34" charset="-122"/>
                <a:cs typeface="Calibri" pitchFamily="34" charset="-120"/>
              </a:rPr>
              <a:t>MESSAGE  =  REACH</a:t>
            </a:r>
            <a:endParaRPr lang="en-US" sz="1500" dirty="0"/>
          </a:p>
        </p:txBody>
      </p:sp>
      <p:sp>
        <p:nvSpPr>
          <p:cNvPr id="6" name="Text 4"/>
          <p:cNvSpPr/>
          <p:nvPr/>
        </p:nvSpPr>
        <p:spPr>
          <a:xfrm>
            <a:off x="1005840" y="2743200"/>
            <a:ext cx="4572000" cy="2103120"/>
          </a:xfrm>
          <a:prstGeom prst="rect">
            <a:avLst/>
          </a:prstGeom>
          <a:noFill/>
          <a:ln/>
        </p:spPr>
        <p:txBody>
          <a:bodyPr wrap="square" lIns="0" tIns="0" rIns="0" bIns="0" rtlCol="0" anchor="t"/>
          <a:lstStyle/>
          <a:p>
            <a:pPr indent="0" marL="0">
              <a:lnSpc>
                <a:spcPts val="1800"/>
              </a:lnSpc>
              <a:buNone/>
            </a:pPr>
            <a:r>
              <a:rPr lang="en-US" sz="1250" dirty="0">
                <a:solidFill>
                  <a:srgbClr val="9A9AB4"/>
                </a:solidFill>
                <a:latin typeface="Calibri" pitchFamily="34" charset="0"/>
                <a:ea typeface="Calibri" pitchFamily="34" charset="-122"/>
                <a:cs typeface="Calibri" pitchFamily="34" charset="-120"/>
              </a:rPr>
              <a:t>Every phone in India can receive a text. No app, no account, no data plan, no smartphone required.</a:t>
            </a:r>
            <a:endParaRPr lang="en-US" sz="1250" dirty="0"/>
          </a:p>
          <a:p>
            <a:pPr indent="0" marL="0">
              <a:lnSpc>
                <a:spcPts val="1800"/>
              </a:lnSpc>
              <a:buNone/>
            </a:pPr>
            <a:endParaRPr lang="en-US" sz="1250" dirty="0"/>
          </a:p>
          <a:p>
            <a:pPr indent="0" marL="0">
              <a:lnSpc>
                <a:spcPts val="1800"/>
              </a:lnSpc>
              <a:buNone/>
            </a:pPr>
            <a:r>
              <a:rPr lang="en-US" sz="1250" dirty="0">
                <a:solidFill>
                  <a:srgbClr val="9A9AB4"/>
                </a:solidFill>
                <a:latin typeface="Calibri" pitchFamily="34" charset="0"/>
                <a:ea typeface="Calibri" pitchFamily="34" charset="-122"/>
                <a:cs typeface="Calibri" pitchFamily="34" charset="-120"/>
              </a:rPr>
              <a:t>What we send is always a fixed, pre-registered sentence with one link in it. It never changes, so it always clears the carriers.</a:t>
            </a:r>
            <a:endParaRPr lang="en-US" sz="1250" dirty="0"/>
          </a:p>
        </p:txBody>
      </p:sp>
      <p:sp>
        <p:nvSpPr>
          <p:cNvPr id="7" name="Shape 5"/>
          <p:cNvSpPr/>
          <p:nvPr/>
        </p:nvSpPr>
        <p:spPr>
          <a:xfrm>
            <a:off x="6217920" y="1920240"/>
            <a:ext cx="5303520" cy="3200400"/>
          </a:xfrm>
          <a:prstGeom prst="roundRect">
            <a:avLst>
              <a:gd name="adj" fmla="val 3429"/>
            </a:avLst>
          </a:prstGeom>
          <a:solidFill>
            <a:srgbClr val="171723"/>
          </a:solidFill>
          <a:ln w="12700">
            <a:solidFill>
              <a:srgbClr val="2A2A3D"/>
            </a:solidFill>
            <a:prstDash val="solid"/>
          </a:ln>
        </p:spPr>
      </p:sp>
      <p:sp>
        <p:nvSpPr>
          <p:cNvPr id="8" name="Text 6"/>
          <p:cNvSpPr/>
          <p:nvPr/>
        </p:nvSpPr>
        <p:spPr>
          <a:xfrm>
            <a:off x="6583680" y="2194560"/>
            <a:ext cx="4572000" cy="411480"/>
          </a:xfrm>
          <a:prstGeom prst="rect">
            <a:avLst/>
          </a:prstGeom>
          <a:noFill/>
          <a:ln/>
        </p:spPr>
        <p:txBody>
          <a:bodyPr wrap="square" lIns="0" tIns="0" rIns="0" bIns="0" rtlCol="0" anchor="t"/>
          <a:lstStyle/>
          <a:p>
            <a:pPr indent="0" marL="0">
              <a:buNone/>
            </a:pPr>
            <a:r>
              <a:rPr lang="en-US" sz="1500" b="1" spc="100" kern="0" dirty="0">
                <a:solidFill>
                  <a:srgbClr val="9D87FF"/>
                </a:solidFill>
                <a:latin typeface="Calibri" pitchFamily="34" charset="0"/>
                <a:ea typeface="Calibri" pitchFamily="34" charset="-122"/>
                <a:cs typeface="Calibri" pitchFamily="34" charset="-120"/>
              </a:rPr>
              <a:t>WEB  =  SCREEN</a:t>
            </a:r>
            <a:endParaRPr lang="en-US" sz="1500" dirty="0"/>
          </a:p>
        </p:txBody>
      </p:sp>
      <p:sp>
        <p:nvSpPr>
          <p:cNvPr id="9" name="Text 7"/>
          <p:cNvSpPr/>
          <p:nvPr/>
        </p:nvSpPr>
        <p:spPr>
          <a:xfrm>
            <a:off x="6583680" y="2743200"/>
            <a:ext cx="4572000" cy="2103120"/>
          </a:xfrm>
          <a:prstGeom prst="rect">
            <a:avLst/>
          </a:prstGeom>
          <a:noFill/>
          <a:ln/>
        </p:spPr>
        <p:txBody>
          <a:bodyPr wrap="square" lIns="0" tIns="0" rIns="0" bIns="0" rtlCol="0" anchor="t"/>
          <a:lstStyle/>
          <a:p>
            <a:pPr indent="0" marL="0">
              <a:lnSpc>
                <a:spcPts val="1800"/>
              </a:lnSpc>
              <a:buNone/>
            </a:pPr>
            <a:r>
              <a:rPr lang="en-US" sz="1250" dirty="0">
                <a:solidFill>
                  <a:srgbClr val="9A9AB4"/>
                </a:solidFill>
                <a:latin typeface="Calibri" pitchFamily="34" charset="0"/>
                <a:ea typeface="Calibri" pitchFamily="34" charset="-122"/>
                <a:cs typeface="Calibri" pitchFamily="34" charset="-120"/>
              </a:rPr>
              <a:t>Behind that link is a real page: live menu, portions, add-ons, cart, payment, ratings.</a:t>
            </a:r>
            <a:endParaRPr lang="en-US" sz="1250" dirty="0"/>
          </a:p>
          <a:p>
            <a:pPr indent="0" marL="0">
              <a:lnSpc>
                <a:spcPts val="1800"/>
              </a:lnSpc>
              <a:buNone/>
            </a:pPr>
            <a:endParaRPr lang="en-US" sz="1250" dirty="0"/>
          </a:p>
          <a:p>
            <a:pPr indent="0" marL="0">
              <a:lnSpc>
                <a:spcPts val="1800"/>
              </a:lnSpc>
              <a:buNone/>
            </a:pPr>
            <a:r>
              <a:rPr lang="en-US" sz="1250" dirty="0">
                <a:solidFill>
                  <a:srgbClr val="9A9AB4"/>
                </a:solidFill>
                <a:latin typeface="Calibri" pitchFamily="34" charset="0"/>
                <a:ea typeface="Calibri" pitchFamily="34" charset="-122"/>
                <a:cs typeface="Calibri" pitchFamily="34" charset="-120"/>
              </a:rPr>
              <a:t>Prices change the moment the kitchen changes them. A dish sells out and it is gone from the page. None of that could ever survive inside a message.</a:t>
            </a:r>
            <a:endParaRPr lang="en-US" sz="1250" dirty="0"/>
          </a:p>
        </p:txBody>
      </p:sp>
      <p:sp>
        <p:nvSpPr>
          <p:cNvPr id="10" name="Text 8"/>
          <p:cNvSpPr/>
          <p:nvPr/>
        </p:nvSpPr>
        <p:spPr>
          <a:xfrm>
            <a:off x="640080" y="5440680"/>
            <a:ext cx="10881360" cy="731520"/>
          </a:xfrm>
          <a:prstGeom prst="rect">
            <a:avLst/>
          </a:prstGeom>
          <a:noFill/>
          <a:ln/>
        </p:spPr>
        <p:txBody>
          <a:bodyPr wrap="square" lIns="0" tIns="0" rIns="0" bIns="0" rtlCol="0" anchor="t"/>
          <a:lstStyle/>
          <a:p>
            <a:pPr indent="0" marL="0">
              <a:lnSpc>
                <a:spcPts val="2100"/>
              </a:lnSpc>
              <a:buNone/>
            </a:pPr>
            <a:r>
              <a:rPr lang="en-US" sz="1500" i="1" dirty="0">
                <a:solidFill>
                  <a:srgbClr val="F2F2F7"/>
                </a:solidFill>
                <a:latin typeface="Calibri" pitchFamily="34" charset="0"/>
                <a:ea typeface="Calibri" pitchFamily="34" charset="-122"/>
                <a:cs typeface="Calibri" pitchFamily="34" charset="-120"/>
              </a:rPr>
              <a:t>This is why 'ordering over SMS' has never worked, and why this does. We stopped trying to put the shop inside the message.</a:t>
            </a:r>
            <a:endParaRPr lang="en-US" sz="1500" dirty="0"/>
          </a:p>
        </p:txBody>
      </p:sp>
      <p:sp>
        <p:nvSpPr>
          <p:cNvPr id="11" name="Text 9"/>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What a customer actually does.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Five steps. No app, no account, no password — ever.</a:t>
            </a:r>
            <a:endParaRPr lang="en-US" sz="1550" dirty="0"/>
          </a:p>
        </p:txBody>
      </p:sp>
      <p:sp>
        <p:nvSpPr>
          <p:cNvPr id="4" name="Shape 2"/>
          <p:cNvSpPr/>
          <p:nvPr/>
        </p:nvSpPr>
        <p:spPr>
          <a:xfrm>
            <a:off x="640080" y="1965960"/>
            <a:ext cx="2029968" cy="3017520"/>
          </a:xfrm>
          <a:prstGeom prst="roundRect">
            <a:avLst>
              <a:gd name="adj" fmla="val 5405"/>
            </a:avLst>
          </a:prstGeom>
          <a:solidFill>
            <a:srgbClr val="171723"/>
          </a:solidFill>
          <a:ln w="12700">
            <a:solidFill>
              <a:srgbClr val="2A2A3D"/>
            </a:solidFill>
            <a:prstDash val="solid"/>
          </a:ln>
        </p:spPr>
      </p:sp>
      <p:sp>
        <p:nvSpPr>
          <p:cNvPr id="5" name="Shape 3"/>
          <p:cNvSpPr/>
          <p:nvPr/>
        </p:nvSpPr>
        <p:spPr>
          <a:xfrm>
            <a:off x="914400" y="2286000"/>
            <a:ext cx="384048" cy="384048"/>
          </a:xfrm>
          <a:prstGeom prst="ellipse">
            <a:avLst/>
          </a:prstGeom>
          <a:solidFill>
            <a:srgbClr val="7C5CFF"/>
          </a:solidFill>
          <a:ln w="12700">
            <a:solidFill>
              <a:srgbClr val="7C5CFF"/>
            </a:solidFill>
            <a:prstDash val="solid"/>
          </a:ln>
        </p:spPr>
      </p:sp>
      <p:sp>
        <p:nvSpPr>
          <p:cNvPr id="6" name="Text 4"/>
          <p:cNvSpPr/>
          <p:nvPr/>
        </p:nvSpPr>
        <p:spPr>
          <a:xfrm>
            <a:off x="914400"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2852928"/>
            <a:ext cx="1554480" cy="685800"/>
          </a:xfrm>
          <a:prstGeom prst="rect">
            <a:avLst/>
          </a:prstGeom>
          <a:noFill/>
          <a:ln/>
        </p:spPr>
        <p:txBody>
          <a:bodyPr wrap="square" lIns="0" tIns="0" rIns="0" bIns="0" rtlCol="0" anchor="t"/>
          <a:lstStyle/>
          <a:p>
            <a:pPr indent="0" marL="0">
              <a:lnSpc>
                <a:spcPts val="1700"/>
              </a:lnSpc>
              <a:buNone/>
            </a:pPr>
            <a:r>
              <a:rPr lang="en-US" sz="1350" b="1" dirty="0">
                <a:solidFill>
                  <a:srgbClr val="F2F2F7"/>
                </a:solidFill>
                <a:latin typeface="Calibri" pitchFamily="34" charset="0"/>
                <a:ea typeface="Calibri" pitchFamily="34" charset="-122"/>
                <a:cs typeface="Calibri" pitchFamily="34" charset="-120"/>
              </a:rPr>
              <a:t>Texts our number</a:t>
            </a:r>
            <a:endParaRPr lang="en-US" sz="1350" dirty="0"/>
          </a:p>
        </p:txBody>
      </p:sp>
      <p:sp>
        <p:nvSpPr>
          <p:cNvPr id="8" name="Text 6"/>
          <p:cNvSpPr/>
          <p:nvPr/>
        </p:nvSpPr>
        <p:spPr>
          <a:xfrm>
            <a:off x="914400" y="3584448"/>
            <a:ext cx="1572768" cy="128016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Anything at all. This is the only thing they have to know.</a:t>
            </a:r>
            <a:endParaRPr lang="en-US" sz="1050" dirty="0"/>
          </a:p>
        </p:txBody>
      </p:sp>
      <p:sp>
        <p:nvSpPr>
          <p:cNvPr id="9" name="Shape 7"/>
          <p:cNvSpPr/>
          <p:nvPr/>
        </p:nvSpPr>
        <p:spPr>
          <a:xfrm>
            <a:off x="2852928" y="1965960"/>
            <a:ext cx="2029968" cy="3017520"/>
          </a:xfrm>
          <a:prstGeom prst="roundRect">
            <a:avLst>
              <a:gd name="adj" fmla="val 5405"/>
            </a:avLst>
          </a:prstGeom>
          <a:solidFill>
            <a:srgbClr val="171723"/>
          </a:solidFill>
          <a:ln w="12700">
            <a:solidFill>
              <a:srgbClr val="2A2A3D"/>
            </a:solidFill>
            <a:prstDash val="solid"/>
          </a:ln>
        </p:spPr>
      </p:sp>
      <p:sp>
        <p:nvSpPr>
          <p:cNvPr id="10" name="Shape 8"/>
          <p:cNvSpPr/>
          <p:nvPr/>
        </p:nvSpPr>
        <p:spPr>
          <a:xfrm>
            <a:off x="3127248" y="2286000"/>
            <a:ext cx="384048" cy="384048"/>
          </a:xfrm>
          <a:prstGeom prst="ellipse">
            <a:avLst/>
          </a:prstGeom>
          <a:solidFill>
            <a:srgbClr val="7C5CFF"/>
          </a:solidFill>
          <a:ln w="12700">
            <a:solidFill>
              <a:srgbClr val="7C5CFF"/>
            </a:solidFill>
            <a:prstDash val="solid"/>
          </a:ln>
        </p:spPr>
      </p:sp>
      <p:sp>
        <p:nvSpPr>
          <p:cNvPr id="11" name="Text 9"/>
          <p:cNvSpPr/>
          <p:nvPr/>
        </p:nvSpPr>
        <p:spPr>
          <a:xfrm>
            <a:off x="3127248"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127248" y="2852928"/>
            <a:ext cx="1554480" cy="685800"/>
          </a:xfrm>
          <a:prstGeom prst="rect">
            <a:avLst/>
          </a:prstGeom>
          <a:noFill/>
          <a:ln/>
        </p:spPr>
        <p:txBody>
          <a:bodyPr wrap="square" lIns="0" tIns="0" rIns="0" bIns="0" rtlCol="0" anchor="t"/>
          <a:lstStyle/>
          <a:p>
            <a:pPr indent="0" marL="0">
              <a:lnSpc>
                <a:spcPts val="1700"/>
              </a:lnSpc>
              <a:buNone/>
            </a:pPr>
            <a:r>
              <a:rPr lang="en-US" sz="1350" b="1" dirty="0">
                <a:solidFill>
                  <a:srgbClr val="F2F2F7"/>
                </a:solidFill>
                <a:latin typeface="Calibri" pitchFamily="34" charset="0"/>
                <a:ea typeface="Calibri" pitchFamily="34" charset="-122"/>
                <a:cs typeface="Calibri" pitchFamily="34" charset="-120"/>
              </a:rPr>
              <a:t>Sets where they are</a:t>
            </a:r>
            <a:endParaRPr lang="en-US" sz="1350" dirty="0"/>
          </a:p>
        </p:txBody>
      </p:sp>
      <p:sp>
        <p:nvSpPr>
          <p:cNvPr id="13" name="Text 11"/>
          <p:cNvSpPr/>
          <p:nvPr/>
        </p:nvSpPr>
        <p:spPr>
          <a:xfrm>
            <a:off x="3127248" y="3584448"/>
            <a:ext cx="1572768" cy="128016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One link, once. Types their area — Baner, Kothrud — or shares a pin. Either works.</a:t>
            </a:r>
            <a:endParaRPr lang="en-US" sz="1050" dirty="0"/>
          </a:p>
        </p:txBody>
      </p:sp>
      <p:sp>
        <p:nvSpPr>
          <p:cNvPr id="14" name="Shape 12"/>
          <p:cNvSpPr/>
          <p:nvPr/>
        </p:nvSpPr>
        <p:spPr>
          <a:xfrm>
            <a:off x="5065776" y="1965960"/>
            <a:ext cx="2029968" cy="3017520"/>
          </a:xfrm>
          <a:prstGeom prst="roundRect">
            <a:avLst>
              <a:gd name="adj" fmla="val 5405"/>
            </a:avLst>
          </a:prstGeom>
          <a:solidFill>
            <a:srgbClr val="171723"/>
          </a:solidFill>
          <a:ln w="12700">
            <a:solidFill>
              <a:srgbClr val="2A2A3D"/>
            </a:solidFill>
            <a:prstDash val="solid"/>
          </a:ln>
        </p:spPr>
      </p:sp>
      <p:sp>
        <p:nvSpPr>
          <p:cNvPr id="15" name="Shape 13"/>
          <p:cNvSpPr/>
          <p:nvPr/>
        </p:nvSpPr>
        <p:spPr>
          <a:xfrm>
            <a:off x="5340096" y="2286000"/>
            <a:ext cx="384048" cy="384048"/>
          </a:xfrm>
          <a:prstGeom prst="ellipse">
            <a:avLst/>
          </a:prstGeom>
          <a:solidFill>
            <a:srgbClr val="7C5CFF"/>
          </a:solidFill>
          <a:ln w="12700">
            <a:solidFill>
              <a:srgbClr val="7C5CFF"/>
            </a:solidFill>
            <a:prstDash val="solid"/>
          </a:ln>
        </p:spPr>
      </p:sp>
      <p:sp>
        <p:nvSpPr>
          <p:cNvPr id="16" name="Text 14"/>
          <p:cNvSpPr/>
          <p:nvPr/>
        </p:nvSpPr>
        <p:spPr>
          <a:xfrm>
            <a:off x="5340096"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340096" y="2852928"/>
            <a:ext cx="1554480" cy="685800"/>
          </a:xfrm>
          <a:prstGeom prst="rect">
            <a:avLst/>
          </a:prstGeom>
          <a:noFill/>
          <a:ln/>
        </p:spPr>
        <p:txBody>
          <a:bodyPr wrap="square" lIns="0" tIns="0" rIns="0" bIns="0" rtlCol="0" anchor="t"/>
          <a:lstStyle/>
          <a:p>
            <a:pPr indent="0" marL="0">
              <a:lnSpc>
                <a:spcPts val="1700"/>
              </a:lnSpc>
              <a:buNone/>
            </a:pPr>
            <a:r>
              <a:rPr lang="en-US" sz="1350" b="1" dirty="0">
                <a:solidFill>
                  <a:srgbClr val="F2F2F7"/>
                </a:solidFill>
                <a:latin typeface="Calibri" pitchFamily="34" charset="0"/>
                <a:ea typeface="Calibri" pitchFamily="34" charset="-122"/>
                <a:cs typeface="Calibri" pitchFamily="34" charset="-120"/>
              </a:rPr>
              <a:t>Sees kitchens near them</a:t>
            </a:r>
            <a:endParaRPr lang="en-US" sz="1350" dirty="0"/>
          </a:p>
        </p:txBody>
      </p:sp>
      <p:sp>
        <p:nvSpPr>
          <p:cNvPr id="18" name="Text 16"/>
          <p:cNvSpPr/>
          <p:nvPr/>
        </p:nvSpPr>
        <p:spPr>
          <a:xfrm>
            <a:off x="5340096" y="3584448"/>
            <a:ext cx="1572768" cy="128016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Ranked by distance where we can measure it, by area where we cannot. Open kitchens first.</a:t>
            </a:r>
            <a:endParaRPr lang="en-US" sz="1050" dirty="0"/>
          </a:p>
        </p:txBody>
      </p:sp>
      <p:sp>
        <p:nvSpPr>
          <p:cNvPr id="19" name="Shape 17"/>
          <p:cNvSpPr/>
          <p:nvPr/>
        </p:nvSpPr>
        <p:spPr>
          <a:xfrm>
            <a:off x="7278624" y="1965960"/>
            <a:ext cx="2029968" cy="3017520"/>
          </a:xfrm>
          <a:prstGeom prst="roundRect">
            <a:avLst>
              <a:gd name="adj" fmla="val 5405"/>
            </a:avLst>
          </a:prstGeom>
          <a:solidFill>
            <a:srgbClr val="171723"/>
          </a:solidFill>
          <a:ln w="12700">
            <a:solidFill>
              <a:srgbClr val="2A2A3D"/>
            </a:solidFill>
            <a:prstDash val="solid"/>
          </a:ln>
        </p:spPr>
      </p:sp>
      <p:sp>
        <p:nvSpPr>
          <p:cNvPr id="20" name="Shape 18"/>
          <p:cNvSpPr/>
          <p:nvPr/>
        </p:nvSpPr>
        <p:spPr>
          <a:xfrm>
            <a:off x="7552944" y="2286000"/>
            <a:ext cx="384048" cy="384048"/>
          </a:xfrm>
          <a:prstGeom prst="ellipse">
            <a:avLst/>
          </a:prstGeom>
          <a:solidFill>
            <a:srgbClr val="7C5CFF"/>
          </a:solidFill>
          <a:ln w="12700">
            <a:solidFill>
              <a:srgbClr val="7C5CFF"/>
            </a:solidFill>
            <a:prstDash val="solid"/>
          </a:ln>
        </p:spPr>
      </p:sp>
      <p:sp>
        <p:nvSpPr>
          <p:cNvPr id="21" name="Text 19"/>
          <p:cNvSpPr/>
          <p:nvPr/>
        </p:nvSpPr>
        <p:spPr>
          <a:xfrm>
            <a:off x="7552944"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552944" y="2852928"/>
            <a:ext cx="1554480" cy="685800"/>
          </a:xfrm>
          <a:prstGeom prst="rect">
            <a:avLst/>
          </a:prstGeom>
          <a:noFill/>
          <a:ln/>
        </p:spPr>
        <p:txBody>
          <a:bodyPr wrap="square" lIns="0" tIns="0" rIns="0" bIns="0" rtlCol="0" anchor="t"/>
          <a:lstStyle/>
          <a:p>
            <a:pPr indent="0" marL="0">
              <a:lnSpc>
                <a:spcPts val="1700"/>
              </a:lnSpc>
              <a:buNone/>
            </a:pPr>
            <a:r>
              <a:rPr lang="en-US" sz="1350" b="1" dirty="0">
                <a:solidFill>
                  <a:srgbClr val="F2F2F7"/>
                </a:solidFill>
                <a:latin typeface="Calibri" pitchFamily="34" charset="0"/>
                <a:ea typeface="Calibri" pitchFamily="34" charset="-122"/>
                <a:cs typeface="Calibri" pitchFamily="34" charset="-120"/>
              </a:rPr>
              <a:t>Orders and pays</a:t>
            </a:r>
            <a:endParaRPr lang="en-US" sz="1350" dirty="0"/>
          </a:p>
        </p:txBody>
      </p:sp>
      <p:sp>
        <p:nvSpPr>
          <p:cNvPr id="23" name="Text 21"/>
          <p:cNvSpPr/>
          <p:nvPr/>
        </p:nvSpPr>
        <p:spPr>
          <a:xfrm>
            <a:off x="7552944" y="3584448"/>
            <a:ext cx="1572768" cy="128016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Live menu, portions, add-ons. UPI or cash on delivery.</a:t>
            </a:r>
            <a:endParaRPr lang="en-US" sz="1050" dirty="0"/>
          </a:p>
        </p:txBody>
      </p:sp>
      <p:sp>
        <p:nvSpPr>
          <p:cNvPr id="24" name="Shape 22"/>
          <p:cNvSpPr/>
          <p:nvPr/>
        </p:nvSpPr>
        <p:spPr>
          <a:xfrm>
            <a:off x="9491472" y="1965960"/>
            <a:ext cx="2029968" cy="3017520"/>
          </a:xfrm>
          <a:prstGeom prst="roundRect">
            <a:avLst>
              <a:gd name="adj" fmla="val 5405"/>
            </a:avLst>
          </a:prstGeom>
          <a:solidFill>
            <a:srgbClr val="171723"/>
          </a:solidFill>
          <a:ln w="12700">
            <a:solidFill>
              <a:srgbClr val="2A2A3D"/>
            </a:solidFill>
            <a:prstDash val="solid"/>
          </a:ln>
        </p:spPr>
      </p:sp>
      <p:sp>
        <p:nvSpPr>
          <p:cNvPr id="25" name="Shape 23"/>
          <p:cNvSpPr/>
          <p:nvPr/>
        </p:nvSpPr>
        <p:spPr>
          <a:xfrm>
            <a:off x="9765792" y="2286000"/>
            <a:ext cx="384048" cy="384048"/>
          </a:xfrm>
          <a:prstGeom prst="ellipse">
            <a:avLst/>
          </a:prstGeom>
          <a:solidFill>
            <a:srgbClr val="25D366"/>
          </a:solidFill>
          <a:ln w="12700">
            <a:solidFill>
              <a:srgbClr val="25D366"/>
            </a:solidFill>
            <a:prstDash val="solid"/>
          </a:ln>
        </p:spPr>
      </p:sp>
      <p:sp>
        <p:nvSpPr>
          <p:cNvPr id="26" name="Text 24"/>
          <p:cNvSpPr/>
          <p:nvPr/>
        </p:nvSpPr>
        <p:spPr>
          <a:xfrm>
            <a:off x="9765792"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9765792" y="2852928"/>
            <a:ext cx="1554480" cy="685800"/>
          </a:xfrm>
          <a:prstGeom prst="rect">
            <a:avLst/>
          </a:prstGeom>
          <a:noFill/>
          <a:ln/>
        </p:spPr>
        <p:txBody>
          <a:bodyPr wrap="square" lIns="0" tIns="0" rIns="0" bIns="0" rtlCol="0" anchor="t"/>
          <a:lstStyle/>
          <a:p>
            <a:pPr indent="0" marL="0">
              <a:lnSpc>
                <a:spcPts val="1700"/>
              </a:lnSpc>
              <a:buNone/>
            </a:pPr>
            <a:r>
              <a:rPr lang="en-US" sz="1350" b="1" dirty="0">
                <a:solidFill>
                  <a:srgbClr val="F2F2F7"/>
                </a:solidFill>
                <a:latin typeface="Calibri" pitchFamily="34" charset="0"/>
                <a:ea typeface="Calibri" pitchFamily="34" charset="-122"/>
                <a:cs typeface="Calibri" pitchFamily="34" charset="-120"/>
              </a:rPr>
              <a:t>Eats, then rates it</a:t>
            </a:r>
            <a:endParaRPr lang="en-US" sz="1350" dirty="0"/>
          </a:p>
        </p:txBody>
      </p:sp>
      <p:sp>
        <p:nvSpPr>
          <p:cNvPr id="28" name="Text 26"/>
          <p:cNvSpPr/>
          <p:nvPr/>
        </p:nvSpPr>
        <p:spPr>
          <a:xfrm>
            <a:off x="9765792" y="3584448"/>
            <a:ext cx="1572768" cy="128016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Confirmation, then a rating link when the kitchen marks it delivered.</a:t>
            </a:r>
            <a:endParaRPr lang="en-US" sz="1050" dirty="0"/>
          </a:p>
        </p:txBody>
      </p:sp>
      <p:sp>
        <p:nvSpPr>
          <p:cNvPr id="29" name="Text 27"/>
          <p:cNvSpPr/>
          <p:nvPr/>
        </p:nvSpPr>
        <p:spPr>
          <a:xfrm>
            <a:off x="640080" y="5257800"/>
            <a:ext cx="10881360" cy="731520"/>
          </a:xfrm>
          <a:prstGeom prst="rect">
            <a:avLst/>
          </a:prstGeom>
          <a:noFill/>
          <a:ln/>
        </p:spPr>
        <p:txBody>
          <a:bodyPr wrap="square" lIns="0" tIns="0" rIns="0" bIns="0" rtlCol="0" anchor="t"/>
          <a:lstStyle/>
          <a:p>
            <a:pPr indent="0" marL="0">
              <a:lnSpc>
                <a:spcPts val="1900"/>
              </a:lnSpc>
              <a:buNone/>
            </a:pPr>
            <a:r>
              <a:rPr lang="en-US" sz="1350" dirty="0">
                <a:solidFill>
                  <a:srgbClr val="9D87FF"/>
                </a:solidFill>
                <a:latin typeface="Calibri" pitchFamily="34" charset="0"/>
                <a:ea typeface="Calibri" pitchFamily="34" charset="-122"/>
                <a:cs typeface="Calibri" pitchFamily="34" charset="-120"/>
              </a:rPr>
              <a:t>The second order is shorter. We remember the number that texted us, so the link already knows their name and address and goes straight to kitchens.</a:t>
            </a:r>
            <a:endParaRPr lang="en-US" sz="1350" dirty="0"/>
          </a:p>
        </p:txBody>
      </p:sp>
      <p:sp>
        <p:nvSpPr>
          <p:cNvPr id="30" name="Text 28"/>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What the kitchen gets.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One screen for the whole operation — not a dashboard nobody opens.</a:t>
            </a:r>
            <a:endParaRPr lang="en-US" sz="1550" dirty="0"/>
          </a:p>
        </p:txBody>
      </p:sp>
      <p:sp>
        <p:nvSpPr>
          <p:cNvPr id="4" name="Shape 2"/>
          <p:cNvSpPr/>
          <p:nvPr/>
        </p:nvSpPr>
        <p:spPr>
          <a:xfrm>
            <a:off x="640080" y="1965960"/>
            <a:ext cx="3429000" cy="1737360"/>
          </a:xfrm>
          <a:prstGeom prst="roundRect">
            <a:avLst>
              <a:gd name="adj" fmla="val 6316"/>
            </a:avLst>
          </a:prstGeom>
          <a:solidFill>
            <a:srgbClr val="171723"/>
          </a:solidFill>
          <a:ln w="12700">
            <a:solidFill>
              <a:srgbClr val="2A2A3D"/>
            </a:solidFill>
            <a:prstDash val="solid"/>
          </a:ln>
        </p:spPr>
      </p:sp>
      <p:sp>
        <p:nvSpPr>
          <p:cNvPr id="5" name="Text 3"/>
          <p:cNvSpPr/>
          <p:nvPr/>
        </p:nvSpPr>
        <p:spPr>
          <a:xfrm>
            <a:off x="960120" y="219456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Live orders</a:t>
            </a:r>
            <a:endParaRPr lang="en-US" sz="1500" dirty="0"/>
          </a:p>
        </p:txBody>
      </p:sp>
      <p:sp>
        <p:nvSpPr>
          <p:cNvPr id="6" name="Text 4"/>
          <p:cNvSpPr/>
          <p:nvPr/>
        </p:nvSpPr>
        <p:spPr>
          <a:xfrm>
            <a:off x="960120" y="262432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Every order in one queue, from confirmed through to delivered.</a:t>
            </a:r>
            <a:endParaRPr lang="en-US" sz="1100" dirty="0"/>
          </a:p>
        </p:txBody>
      </p:sp>
      <p:sp>
        <p:nvSpPr>
          <p:cNvPr id="7" name="Shape 5"/>
          <p:cNvSpPr/>
          <p:nvPr/>
        </p:nvSpPr>
        <p:spPr>
          <a:xfrm>
            <a:off x="4389120" y="1965960"/>
            <a:ext cx="3429000" cy="1737360"/>
          </a:xfrm>
          <a:prstGeom prst="roundRect">
            <a:avLst>
              <a:gd name="adj" fmla="val 6316"/>
            </a:avLst>
          </a:prstGeom>
          <a:solidFill>
            <a:srgbClr val="171723"/>
          </a:solidFill>
          <a:ln w="12700">
            <a:solidFill>
              <a:srgbClr val="2A2A3D"/>
            </a:solidFill>
            <a:prstDash val="solid"/>
          </a:ln>
        </p:spPr>
      </p:sp>
      <p:sp>
        <p:nvSpPr>
          <p:cNvPr id="8" name="Text 6"/>
          <p:cNvSpPr/>
          <p:nvPr/>
        </p:nvSpPr>
        <p:spPr>
          <a:xfrm>
            <a:off x="4709160" y="219456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Menu control</a:t>
            </a:r>
            <a:endParaRPr lang="en-US" sz="1500" dirty="0"/>
          </a:p>
        </p:txBody>
      </p:sp>
      <p:sp>
        <p:nvSpPr>
          <p:cNvPr id="9" name="Text 7"/>
          <p:cNvSpPr/>
          <p:nvPr/>
        </p:nvSpPr>
        <p:spPr>
          <a:xfrm>
            <a:off x="4709160" y="262432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Prices, half and full portions, add-ons, sold-out toggles. Changes are live instantly.</a:t>
            </a:r>
            <a:endParaRPr lang="en-US" sz="1100" dirty="0"/>
          </a:p>
        </p:txBody>
      </p:sp>
      <p:sp>
        <p:nvSpPr>
          <p:cNvPr id="10" name="Shape 8"/>
          <p:cNvSpPr/>
          <p:nvPr/>
        </p:nvSpPr>
        <p:spPr>
          <a:xfrm>
            <a:off x="8138160" y="1965960"/>
            <a:ext cx="3429000" cy="1737360"/>
          </a:xfrm>
          <a:prstGeom prst="roundRect">
            <a:avLst>
              <a:gd name="adj" fmla="val 6316"/>
            </a:avLst>
          </a:prstGeom>
          <a:solidFill>
            <a:srgbClr val="171723"/>
          </a:solidFill>
          <a:ln w="12700">
            <a:solidFill>
              <a:srgbClr val="2A2A3D"/>
            </a:solidFill>
            <a:prstDash val="solid"/>
          </a:ln>
        </p:spPr>
      </p:sp>
      <p:sp>
        <p:nvSpPr>
          <p:cNvPr id="11" name="Text 9"/>
          <p:cNvSpPr/>
          <p:nvPr/>
        </p:nvSpPr>
        <p:spPr>
          <a:xfrm>
            <a:off x="8458200" y="219456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Trading hours</a:t>
            </a:r>
            <a:endParaRPr lang="en-US" sz="1500" dirty="0"/>
          </a:p>
        </p:txBody>
      </p:sp>
      <p:sp>
        <p:nvSpPr>
          <p:cNvPr id="12" name="Text 10"/>
          <p:cNvSpPr/>
          <p:nvPr/>
        </p:nvSpPr>
        <p:spPr>
          <a:xfrm>
            <a:off x="8458200" y="262432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The page refuses orders outside opening hours automatically. No 3 a.m. surprises.</a:t>
            </a:r>
            <a:endParaRPr lang="en-US" sz="1100" dirty="0"/>
          </a:p>
        </p:txBody>
      </p:sp>
      <p:sp>
        <p:nvSpPr>
          <p:cNvPr id="13" name="Shape 11"/>
          <p:cNvSpPr/>
          <p:nvPr/>
        </p:nvSpPr>
        <p:spPr>
          <a:xfrm>
            <a:off x="640080" y="3886200"/>
            <a:ext cx="3429000" cy="1737360"/>
          </a:xfrm>
          <a:prstGeom prst="roundRect">
            <a:avLst>
              <a:gd name="adj" fmla="val 6316"/>
            </a:avLst>
          </a:prstGeom>
          <a:solidFill>
            <a:srgbClr val="171723"/>
          </a:solidFill>
          <a:ln w="12700">
            <a:solidFill>
              <a:srgbClr val="2A2A3D"/>
            </a:solidFill>
            <a:prstDash val="solid"/>
          </a:ln>
        </p:spPr>
      </p:sp>
      <p:sp>
        <p:nvSpPr>
          <p:cNvPr id="14" name="Text 12"/>
          <p:cNvSpPr/>
          <p:nvPr/>
        </p:nvSpPr>
        <p:spPr>
          <a:xfrm>
            <a:off x="960120" y="411480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Delivery</a:t>
            </a:r>
            <a:endParaRPr lang="en-US" sz="1500" dirty="0"/>
          </a:p>
        </p:txBody>
      </p:sp>
      <p:sp>
        <p:nvSpPr>
          <p:cNvPr id="15" name="Text 13"/>
          <p:cNvSpPr/>
          <p:nvPr/>
        </p:nvSpPr>
        <p:spPr>
          <a:xfrm>
            <a:off x="960120" y="454456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A token per packet. The rider opens address, Maps and a handover OTP — no app to install.</a:t>
            </a:r>
            <a:endParaRPr lang="en-US" sz="1100" dirty="0"/>
          </a:p>
        </p:txBody>
      </p:sp>
      <p:sp>
        <p:nvSpPr>
          <p:cNvPr id="16" name="Shape 14"/>
          <p:cNvSpPr/>
          <p:nvPr/>
        </p:nvSpPr>
        <p:spPr>
          <a:xfrm>
            <a:off x="4389120" y="3886200"/>
            <a:ext cx="3429000" cy="1737360"/>
          </a:xfrm>
          <a:prstGeom prst="roundRect">
            <a:avLst>
              <a:gd name="adj" fmla="val 6316"/>
            </a:avLst>
          </a:prstGeom>
          <a:solidFill>
            <a:srgbClr val="171723"/>
          </a:solidFill>
          <a:ln w="12700">
            <a:solidFill>
              <a:srgbClr val="2A2A3D"/>
            </a:solidFill>
            <a:prstDash val="solid"/>
          </a:ln>
        </p:spPr>
      </p:sp>
      <p:sp>
        <p:nvSpPr>
          <p:cNvPr id="17" name="Text 15"/>
          <p:cNvSpPr/>
          <p:nvPr/>
        </p:nvSpPr>
        <p:spPr>
          <a:xfrm>
            <a:off x="4709160" y="411480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Ratings</a:t>
            </a:r>
            <a:endParaRPr lang="en-US" sz="1500" dirty="0"/>
          </a:p>
        </p:txBody>
      </p:sp>
      <p:sp>
        <p:nvSpPr>
          <p:cNvPr id="18" name="Text 16"/>
          <p:cNvSpPr/>
          <p:nvPr/>
        </p:nvSpPr>
        <p:spPr>
          <a:xfrm>
            <a:off x="4709160" y="454456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Feedback tied to a real order, so it cannot be faked or brigaded.</a:t>
            </a:r>
            <a:endParaRPr lang="en-US" sz="1100" dirty="0"/>
          </a:p>
        </p:txBody>
      </p:sp>
      <p:sp>
        <p:nvSpPr>
          <p:cNvPr id="19" name="Shape 17"/>
          <p:cNvSpPr/>
          <p:nvPr/>
        </p:nvSpPr>
        <p:spPr>
          <a:xfrm>
            <a:off x="8138160" y="3886200"/>
            <a:ext cx="3429000" cy="1737360"/>
          </a:xfrm>
          <a:prstGeom prst="roundRect">
            <a:avLst>
              <a:gd name="adj" fmla="val 6316"/>
            </a:avLst>
          </a:prstGeom>
          <a:solidFill>
            <a:srgbClr val="171723"/>
          </a:solidFill>
          <a:ln w="12700">
            <a:solidFill>
              <a:srgbClr val="2A2A3D"/>
            </a:solidFill>
            <a:prstDash val="solid"/>
          </a:ln>
        </p:spPr>
      </p:sp>
      <p:sp>
        <p:nvSpPr>
          <p:cNvPr id="20" name="Text 18"/>
          <p:cNvSpPr/>
          <p:nvPr/>
        </p:nvSpPr>
        <p:spPr>
          <a:xfrm>
            <a:off x="8458200" y="4114800"/>
            <a:ext cx="283464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Money</a:t>
            </a:r>
            <a:endParaRPr lang="en-US" sz="1500" dirty="0"/>
          </a:p>
        </p:txBody>
      </p:sp>
      <p:sp>
        <p:nvSpPr>
          <p:cNvPr id="21" name="Text 19"/>
          <p:cNvSpPr/>
          <p:nvPr/>
        </p:nvSpPr>
        <p:spPr>
          <a:xfrm>
            <a:off x="8458200" y="4544568"/>
            <a:ext cx="2834640" cy="914400"/>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Payments land in the kitchen's own UPI account. Billing shows exactly which orders were counted.</a:t>
            </a:r>
            <a:endParaRPr lang="en-US" sz="1100" dirty="0"/>
          </a:p>
        </p:txBody>
      </p:sp>
      <p:sp>
        <p:nvSpPr>
          <p:cNvPr id="22" name="Text 20"/>
          <p:cNvSpPr/>
          <p:nvPr/>
        </p:nvSpPr>
        <p:spPr>
          <a:xfrm>
            <a:off x="640080" y="5943600"/>
            <a:ext cx="10881360" cy="411480"/>
          </a:xfrm>
          <a:prstGeom prst="rect">
            <a:avLst/>
          </a:prstGeom>
          <a:noFill/>
          <a:ln/>
        </p:spPr>
        <p:txBody>
          <a:bodyPr wrap="square" lIns="0" tIns="0" rIns="0" bIns="0" rtlCol="0" anchor="t"/>
          <a:lstStyle/>
          <a:p>
            <a:pPr indent="0" marL="0">
              <a:buNone/>
            </a:pPr>
            <a:r>
              <a:rPr lang="en-US" sz="1350" i="1" dirty="0">
                <a:solidFill>
                  <a:srgbClr val="25D366"/>
                </a:solidFill>
                <a:latin typeface="Calibri" pitchFamily="34" charset="0"/>
                <a:ea typeface="Calibri" pitchFamily="34" charset="-122"/>
                <a:cs typeface="Calibri" pitchFamily="34" charset="-120"/>
              </a:rPr>
              <a:t>And the customer list is theirs. Every number that ever ordered, on their side of the table.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Why SMS, in a country full of smartphones.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Three reasons, and the third is the one that matters most.</a:t>
            </a:r>
            <a:endParaRPr lang="en-US" sz="1550" dirty="0"/>
          </a:p>
        </p:txBody>
      </p:sp>
      <p:sp>
        <p:nvSpPr>
          <p:cNvPr id="4" name="Shape 2"/>
          <p:cNvSpPr/>
          <p:nvPr/>
        </p:nvSpPr>
        <p:spPr>
          <a:xfrm>
            <a:off x="640080" y="1920240"/>
            <a:ext cx="3429000" cy="2788920"/>
          </a:xfrm>
          <a:prstGeom prst="roundRect">
            <a:avLst>
              <a:gd name="adj" fmla="val 3934"/>
            </a:avLst>
          </a:prstGeom>
          <a:solidFill>
            <a:srgbClr val="171723"/>
          </a:solidFill>
          <a:ln w="12700">
            <a:solidFill>
              <a:srgbClr val="2A2A3D"/>
            </a:solidFill>
            <a:prstDash val="solid"/>
          </a:ln>
        </p:spPr>
      </p:sp>
      <p:sp>
        <p:nvSpPr>
          <p:cNvPr id="5" name="Text 3"/>
          <p:cNvSpPr/>
          <p:nvPr/>
        </p:nvSpPr>
        <p:spPr>
          <a:xfrm>
            <a:off x="1005840" y="2194560"/>
            <a:ext cx="2743200" cy="457200"/>
          </a:xfrm>
          <a:prstGeom prst="rect">
            <a:avLst/>
          </a:prstGeom>
          <a:noFill/>
          <a:ln/>
        </p:spPr>
        <p:txBody>
          <a:bodyPr wrap="square" lIns="0" tIns="0" rIns="0" bIns="0" rtlCol="0" anchor="t"/>
          <a:lstStyle/>
          <a:p>
            <a:pPr indent="0" marL="0">
              <a:buNone/>
            </a:pPr>
            <a:r>
              <a:rPr lang="en-US" sz="1900" b="1" dirty="0">
                <a:solidFill>
                  <a:srgbClr val="F5A524"/>
                </a:solidFill>
                <a:latin typeface="Calibri" pitchFamily="34" charset="0"/>
                <a:ea typeface="Calibri" pitchFamily="34" charset="-122"/>
                <a:cs typeface="Calibri" pitchFamily="34" charset="-120"/>
              </a:rPr>
              <a:t>Reach</a:t>
            </a:r>
            <a:endParaRPr lang="en-US" sz="1900" dirty="0"/>
          </a:p>
        </p:txBody>
      </p:sp>
      <p:sp>
        <p:nvSpPr>
          <p:cNvPr id="6" name="Text 4"/>
          <p:cNvSpPr/>
          <p:nvPr/>
        </p:nvSpPr>
        <p:spPr>
          <a:xfrm>
            <a:off x="1005840" y="2724912"/>
            <a:ext cx="2743200" cy="18288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Every mobile phone sold in India receives SMS. No install, no account, no data, no minimum handset. It reaches the customer who will never download an app and the one whose phone is full.</a:t>
            </a:r>
            <a:endParaRPr lang="en-US" sz="1150" dirty="0"/>
          </a:p>
        </p:txBody>
      </p:sp>
      <p:sp>
        <p:nvSpPr>
          <p:cNvPr id="7" name="Shape 5"/>
          <p:cNvSpPr/>
          <p:nvPr/>
        </p:nvSpPr>
        <p:spPr>
          <a:xfrm>
            <a:off x="4389120" y="1920240"/>
            <a:ext cx="3429000" cy="2788920"/>
          </a:xfrm>
          <a:prstGeom prst="roundRect">
            <a:avLst>
              <a:gd name="adj" fmla="val 3934"/>
            </a:avLst>
          </a:prstGeom>
          <a:solidFill>
            <a:srgbClr val="171723"/>
          </a:solidFill>
          <a:ln w="12700">
            <a:solidFill>
              <a:srgbClr val="2A2A3D"/>
            </a:solidFill>
            <a:prstDash val="solid"/>
          </a:ln>
        </p:spPr>
      </p:sp>
      <p:sp>
        <p:nvSpPr>
          <p:cNvPr id="8" name="Text 6"/>
          <p:cNvSpPr/>
          <p:nvPr/>
        </p:nvSpPr>
        <p:spPr>
          <a:xfrm>
            <a:off x="4754880" y="2194560"/>
            <a:ext cx="2743200" cy="457200"/>
          </a:xfrm>
          <a:prstGeom prst="rect">
            <a:avLst/>
          </a:prstGeom>
          <a:noFill/>
          <a:ln/>
        </p:spPr>
        <p:txBody>
          <a:bodyPr wrap="square" lIns="0" tIns="0" rIns="0" bIns="0" rtlCol="0" anchor="t"/>
          <a:lstStyle/>
          <a:p>
            <a:pPr indent="0" marL="0">
              <a:buNone/>
            </a:pPr>
            <a:r>
              <a:rPr lang="en-US" sz="1900" b="1" dirty="0">
                <a:solidFill>
                  <a:srgbClr val="9D87FF"/>
                </a:solidFill>
                <a:latin typeface="Calibri" pitchFamily="34" charset="0"/>
                <a:ea typeface="Calibri" pitchFamily="34" charset="-122"/>
                <a:cs typeface="Calibri" pitchFamily="34" charset="-120"/>
              </a:rPr>
              <a:t>Cost</a:t>
            </a:r>
            <a:endParaRPr lang="en-US" sz="1900" dirty="0"/>
          </a:p>
        </p:txBody>
      </p:sp>
      <p:sp>
        <p:nvSpPr>
          <p:cNvPr id="9" name="Text 7"/>
          <p:cNvSpPr/>
          <p:nvPr/>
        </p:nvSpPr>
        <p:spPr>
          <a:xfrm>
            <a:off x="4754880" y="2724912"/>
            <a:ext cx="2743200" cy="18288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Roughly Rs 0.15 to Rs 0.25 per message. About three messages per order. Under a rupee of delivery cost to earn Rs 20.</a:t>
            </a:r>
            <a:endParaRPr lang="en-US" sz="1150" dirty="0"/>
          </a:p>
        </p:txBody>
      </p:sp>
      <p:sp>
        <p:nvSpPr>
          <p:cNvPr id="10" name="Shape 8"/>
          <p:cNvSpPr/>
          <p:nvPr/>
        </p:nvSpPr>
        <p:spPr>
          <a:xfrm>
            <a:off x="8138160" y="1920240"/>
            <a:ext cx="3429000" cy="2788920"/>
          </a:xfrm>
          <a:prstGeom prst="roundRect">
            <a:avLst>
              <a:gd name="adj" fmla="val 3934"/>
            </a:avLst>
          </a:prstGeom>
          <a:solidFill>
            <a:srgbClr val="171723"/>
          </a:solidFill>
          <a:ln w="12700">
            <a:solidFill>
              <a:srgbClr val="2A2A3D"/>
            </a:solidFill>
            <a:prstDash val="solid"/>
          </a:ln>
        </p:spPr>
      </p:sp>
      <p:sp>
        <p:nvSpPr>
          <p:cNvPr id="11" name="Text 9"/>
          <p:cNvSpPr/>
          <p:nvPr/>
        </p:nvSpPr>
        <p:spPr>
          <a:xfrm>
            <a:off x="8503920" y="2194560"/>
            <a:ext cx="2743200" cy="457200"/>
          </a:xfrm>
          <a:prstGeom prst="rect">
            <a:avLst/>
          </a:prstGeom>
          <a:noFill/>
          <a:ln/>
        </p:spPr>
        <p:txBody>
          <a:bodyPr wrap="square" lIns="0" tIns="0" rIns="0" bIns="0" rtlCol="0" anchor="t"/>
          <a:lstStyle/>
          <a:p>
            <a:pPr indent="0" marL="0">
              <a:buNone/>
            </a:pPr>
            <a:r>
              <a:rPr lang="en-US" sz="1900" b="1" dirty="0">
                <a:solidFill>
                  <a:srgbClr val="25D366"/>
                </a:solidFill>
                <a:latin typeface="Calibri" pitchFamily="34" charset="0"/>
                <a:ea typeface="Calibri" pitchFamily="34" charset="-122"/>
                <a:cs typeface="Calibri" pitchFamily="34" charset="-120"/>
              </a:rPr>
              <a:t>Control</a:t>
            </a:r>
            <a:endParaRPr lang="en-US" sz="1900" dirty="0"/>
          </a:p>
        </p:txBody>
      </p:sp>
      <p:sp>
        <p:nvSpPr>
          <p:cNvPr id="12" name="Text 10"/>
          <p:cNvSpPr/>
          <p:nvPr/>
        </p:nvSpPr>
        <p:spPr>
          <a:xfrm>
            <a:off x="8503920" y="2724912"/>
            <a:ext cx="2743200" cy="1828800"/>
          </a:xfrm>
          <a:prstGeom prst="rect">
            <a:avLst/>
          </a:prstGeom>
          <a:noFill/>
          <a:ln/>
        </p:spPr>
        <p:txBody>
          <a:bodyPr wrap="square" lIns="0" tIns="0" rIns="0" bIns="0" rtlCol="0" anchor="t"/>
          <a:lstStyle/>
          <a:p>
            <a:pPr indent="0" marL="0">
              <a:lnSpc>
                <a:spcPts val="1600"/>
              </a:lnSpc>
              <a:buNone/>
            </a:pPr>
            <a:r>
              <a:rPr lang="en-US" sz="1150" dirty="0">
                <a:solidFill>
                  <a:srgbClr val="9A9AB4"/>
                </a:solidFill>
                <a:latin typeface="Calibri" pitchFamily="34" charset="0"/>
                <a:ea typeface="Calibri" pitchFamily="34" charset="-122"/>
                <a:cs typeface="Calibri" pitchFamily="34" charset="-120"/>
              </a:rPr>
              <a:t>No platform sits between us and the customer. There is no ranking, no algorithm and no company that can change the terms or switch us off. The carriers are a regulated utility, not a competitor.</a:t>
            </a:r>
            <a:endParaRPr lang="en-US" sz="1150" dirty="0"/>
          </a:p>
        </p:txBody>
      </p:sp>
      <p:sp>
        <p:nvSpPr>
          <p:cNvPr id="13" name="Shape 11"/>
          <p:cNvSpPr/>
          <p:nvPr/>
        </p:nvSpPr>
        <p:spPr>
          <a:xfrm>
            <a:off x="640080" y="4937760"/>
            <a:ext cx="10881360" cy="1051560"/>
          </a:xfrm>
          <a:prstGeom prst="roundRect">
            <a:avLst>
              <a:gd name="adj" fmla="val 10435"/>
            </a:avLst>
          </a:prstGeom>
          <a:solidFill>
            <a:srgbClr val="1C1C2B"/>
          </a:solidFill>
          <a:ln w="12700">
            <a:solidFill>
              <a:srgbClr val="2A2A3D"/>
            </a:solidFill>
            <a:prstDash val="solid"/>
          </a:ln>
        </p:spPr>
      </p:sp>
      <p:sp>
        <p:nvSpPr>
          <p:cNvPr id="14" name="Text 12"/>
          <p:cNvSpPr/>
          <p:nvPr/>
        </p:nvSpPr>
        <p:spPr>
          <a:xfrm>
            <a:off x="960120" y="4937760"/>
            <a:ext cx="10241280" cy="1051560"/>
          </a:xfrm>
          <a:prstGeom prst="rect">
            <a:avLst/>
          </a:prstGeom>
          <a:noFill/>
          <a:ln/>
        </p:spPr>
        <p:txBody>
          <a:bodyPr wrap="square" lIns="0" tIns="0" rIns="0" bIns="0" rtlCol="0" anchor="ctr"/>
          <a:lstStyle/>
          <a:p>
            <a:pPr indent="0" marL="0">
              <a:lnSpc>
                <a:spcPts val="1700"/>
              </a:lnSpc>
              <a:buNone/>
            </a:pPr>
            <a:r>
              <a:rPr lang="en-US" sz="1200" b="1" dirty="0">
                <a:solidFill>
                  <a:srgbClr val="F2F2F7"/>
                </a:solidFill>
                <a:latin typeface="Calibri" pitchFamily="34" charset="0"/>
                <a:ea typeface="Calibri" pitchFamily="34" charset="-122"/>
                <a:cs typeface="Calibri" pitchFamily="34" charset="-120"/>
              </a:rPr>
              <a:t>The regulation is a feature.  </a:t>
            </a:r>
            <a:pPr indent="0" marL="0">
              <a:lnSpc>
                <a:spcPts val="1700"/>
              </a:lnSpc>
              <a:buNone/>
            </a:pPr>
            <a:r>
              <a:rPr lang="en-US" sz="1200" dirty="0">
                <a:solidFill>
                  <a:srgbClr val="9A9AB4"/>
                </a:solidFill>
                <a:latin typeface="Calibri" pitchFamily="34" charset="0"/>
                <a:ea typeface="Calibri" pitchFamily="34" charset="-122"/>
                <a:cs typeface="Calibri" pitchFamily="34" charset="-120"/>
              </a:rPr>
              <a:t>India's DLT regime requires every commercial sender to register the company, the sender ID, each message template word for word, and the domain of any link. It takes weeks. That paperwork is a barrier to us once, and to every imitator forever after.</a:t>
            </a:r>
            <a:endParaRPr lang="en-US" sz="1200" dirty="0"/>
          </a:p>
        </p:txBody>
      </p:sp>
      <p:sp>
        <p:nvSpPr>
          <p:cNvPr id="15" name="Text 13"/>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The money never touches us.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A deliberate architectural choice, not a limitation.</a:t>
            </a:r>
            <a:endParaRPr lang="en-US" sz="1550" dirty="0"/>
          </a:p>
        </p:txBody>
      </p:sp>
      <p:sp>
        <p:nvSpPr>
          <p:cNvPr id="4" name="Shape 2"/>
          <p:cNvSpPr/>
          <p:nvPr/>
        </p:nvSpPr>
        <p:spPr>
          <a:xfrm>
            <a:off x="640080" y="1920240"/>
            <a:ext cx="5303520" cy="2286000"/>
          </a:xfrm>
          <a:prstGeom prst="roundRect">
            <a:avLst>
              <a:gd name="adj" fmla="val 4800"/>
            </a:avLst>
          </a:prstGeom>
          <a:solidFill>
            <a:srgbClr val="171723"/>
          </a:solidFill>
          <a:ln w="12700">
            <a:solidFill>
              <a:srgbClr val="2A2A3D"/>
            </a:solidFill>
            <a:prstDash val="solid"/>
          </a:ln>
        </p:spPr>
      </p:sp>
      <p:sp>
        <p:nvSpPr>
          <p:cNvPr id="5" name="Text 3"/>
          <p:cNvSpPr/>
          <p:nvPr/>
        </p:nvSpPr>
        <p:spPr>
          <a:xfrm>
            <a:off x="1005840" y="2176272"/>
            <a:ext cx="4572000" cy="384048"/>
          </a:xfrm>
          <a:prstGeom prst="rect">
            <a:avLst/>
          </a:prstGeom>
          <a:noFill/>
          <a:ln/>
        </p:spPr>
        <p:txBody>
          <a:bodyPr wrap="square" lIns="0" tIns="0" rIns="0" bIns="0" rtlCol="0" anchor="t"/>
          <a:lstStyle/>
          <a:p>
            <a:pPr indent="0" marL="0">
              <a:buNone/>
            </a:pPr>
            <a:r>
              <a:rPr lang="en-US" sz="1600" b="1" dirty="0">
                <a:solidFill>
                  <a:srgbClr val="9D87FF"/>
                </a:solidFill>
                <a:latin typeface="Calibri" pitchFamily="34" charset="0"/>
                <a:ea typeface="Calibri" pitchFamily="34" charset="-122"/>
                <a:cs typeface="Calibri" pitchFamily="34" charset="-120"/>
              </a:rPr>
              <a:t>How it works</a:t>
            </a:r>
            <a:endParaRPr lang="en-US" sz="1600" dirty="0"/>
          </a:p>
        </p:txBody>
      </p:sp>
      <p:sp>
        <p:nvSpPr>
          <p:cNvPr id="6" name="Text 4"/>
          <p:cNvSpPr/>
          <p:nvPr/>
        </p:nvSpPr>
        <p:spPr>
          <a:xfrm>
            <a:off x="1005840" y="2651760"/>
            <a:ext cx="4572000" cy="137160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The customer pays the kitchen directly by UPI, or in cash at the door. Selly issues the request and records the result. Funds move from customer to kitchen and never pass through an account of ours.</a:t>
            </a:r>
            <a:endParaRPr lang="en-US" sz="1200" dirty="0"/>
          </a:p>
        </p:txBody>
      </p:sp>
      <p:sp>
        <p:nvSpPr>
          <p:cNvPr id="7" name="Shape 5"/>
          <p:cNvSpPr/>
          <p:nvPr/>
        </p:nvSpPr>
        <p:spPr>
          <a:xfrm>
            <a:off x="6217920" y="1920240"/>
            <a:ext cx="5303520" cy="2286000"/>
          </a:xfrm>
          <a:prstGeom prst="roundRect">
            <a:avLst>
              <a:gd name="adj" fmla="val 4800"/>
            </a:avLst>
          </a:prstGeom>
          <a:solidFill>
            <a:srgbClr val="171723"/>
          </a:solidFill>
          <a:ln w="12700">
            <a:solidFill>
              <a:srgbClr val="2A2A3D"/>
            </a:solidFill>
            <a:prstDash val="solid"/>
          </a:ln>
        </p:spPr>
      </p:sp>
      <p:sp>
        <p:nvSpPr>
          <p:cNvPr id="8" name="Text 6"/>
          <p:cNvSpPr/>
          <p:nvPr/>
        </p:nvSpPr>
        <p:spPr>
          <a:xfrm>
            <a:off x="6583680" y="2176272"/>
            <a:ext cx="4572000" cy="384048"/>
          </a:xfrm>
          <a:prstGeom prst="rect">
            <a:avLst/>
          </a:prstGeom>
          <a:noFill/>
          <a:ln/>
        </p:spPr>
        <p:txBody>
          <a:bodyPr wrap="square" lIns="0" tIns="0" rIns="0" bIns="0" rtlCol="0" anchor="t"/>
          <a:lstStyle/>
          <a:p>
            <a:pPr indent="0" marL="0">
              <a:buNone/>
            </a:pPr>
            <a:r>
              <a:rPr lang="en-US" sz="1600" b="1" dirty="0">
                <a:solidFill>
                  <a:srgbClr val="25D366"/>
                </a:solidFill>
                <a:latin typeface="Calibri" pitchFamily="34" charset="0"/>
                <a:ea typeface="Calibri" pitchFamily="34" charset="-122"/>
                <a:cs typeface="Calibri" pitchFamily="34" charset="-120"/>
              </a:rPr>
              <a:t>Why it matters</a:t>
            </a:r>
            <a:endParaRPr lang="en-US" sz="1600" dirty="0"/>
          </a:p>
        </p:txBody>
      </p:sp>
      <p:sp>
        <p:nvSpPr>
          <p:cNvPr id="9" name="Text 7"/>
          <p:cNvSpPr/>
          <p:nvPr/>
        </p:nvSpPr>
        <p:spPr>
          <a:xfrm>
            <a:off x="6583680" y="2651760"/>
            <a:ext cx="4572000" cy="137160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Holding customer money makes you a payment aggregator under RBI rules, with the licensing, capital and audit that follow. Staying out of the flow keeps us a software company — and removes settlement risk, float and chargebacks entirely.</a:t>
            </a:r>
            <a:endParaRPr lang="en-US" sz="1200" dirty="0"/>
          </a:p>
        </p:txBody>
      </p:sp>
      <p:sp>
        <p:nvSpPr>
          <p:cNvPr id="10" name="Shape 8"/>
          <p:cNvSpPr/>
          <p:nvPr/>
        </p:nvSpPr>
        <p:spPr>
          <a:xfrm>
            <a:off x="640080" y="4434840"/>
            <a:ext cx="2560320" cy="1600200"/>
          </a:xfrm>
          <a:prstGeom prst="roundRect">
            <a:avLst>
              <a:gd name="adj" fmla="val 6857"/>
            </a:avLst>
          </a:prstGeom>
          <a:solidFill>
            <a:srgbClr val="1C1C2B"/>
          </a:solidFill>
          <a:ln w="12700">
            <a:solidFill>
              <a:srgbClr val="2A2A3D"/>
            </a:solidFill>
            <a:prstDash val="solid"/>
          </a:ln>
        </p:spPr>
      </p:sp>
      <p:sp>
        <p:nvSpPr>
          <p:cNvPr id="11" name="Text 9"/>
          <p:cNvSpPr/>
          <p:nvPr/>
        </p:nvSpPr>
        <p:spPr>
          <a:xfrm>
            <a:off x="932688" y="4553712"/>
            <a:ext cx="2011680" cy="566928"/>
          </a:xfrm>
          <a:prstGeom prst="rect">
            <a:avLst/>
          </a:prstGeom>
          <a:noFill/>
          <a:ln/>
        </p:spPr>
        <p:txBody>
          <a:bodyPr wrap="square" lIns="0" tIns="0" rIns="0" bIns="0" rtlCol="0" anchor="ctr"/>
          <a:lstStyle/>
          <a:p>
            <a:pPr indent="0" marL="0">
              <a:buNone/>
            </a:pPr>
            <a:r>
              <a:rPr lang="en-US" sz="3000" b="1" dirty="0">
                <a:solidFill>
                  <a:srgbClr val="25D366"/>
                </a:solidFill>
                <a:latin typeface="Calibri" pitchFamily="34" charset="0"/>
                <a:ea typeface="Calibri" pitchFamily="34" charset="-122"/>
                <a:cs typeface="Calibri" pitchFamily="34" charset="-120"/>
              </a:rPr>
              <a:t>Zero</a:t>
            </a:r>
            <a:endParaRPr lang="en-US" sz="3000" dirty="0"/>
          </a:p>
        </p:txBody>
      </p:sp>
      <p:sp>
        <p:nvSpPr>
          <p:cNvPr id="12" name="Text 10"/>
          <p:cNvSpPr/>
          <p:nvPr/>
        </p:nvSpPr>
        <p:spPr>
          <a:xfrm>
            <a:off x="932688" y="5102352"/>
            <a:ext cx="2011680" cy="713232"/>
          </a:xfrm>
          <a:prstGeom prst="rect">
            <a:avLst/>
          </a:prstGeom>
          <a:noFill/>
          <a:ln/>
        </p:spPr>
        <p:txBody>
          <a:bodyPr wrap="square" lIns="0" tIns="0" rIns="0" bIns="0" rtlCol="0" anchor="t"/>
          <a:lstStyle/>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gateway fees deducted</a:t>
            </a:r>
            <a:endParaRPr lang="en-US" sz="1150" dirty="0"/>
          </a:p>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from the kitchen</a:t>
            </a:r>
            <a:endParaRPr lang="en-US" sz="1150" dirty="0"/>
          </a:p>
        </p:txBody>
      </p:sp>
      <p:sp>
        <p:nvSpPr>
          <p:cNvPr id="13" name="Shape 11"/>
          <p:cNvSpPr/>
          <p:nvPr/>
        </p:nvSpPr>
        <p:spPr>
          <a:xfrm>
            <a:off x="3429000" y="4434840"/>
            <a:ext cx="2560320" cy="1600200"/>
          </a:xfrm>
          <a:prstGeom prst="roundRect">
            <a:avLst>
              <a:gd name="adj" fmla="val 6857"/>
            </a:avLst>
          </a:prstGeom>
          <a:solidFill>
            <a:srgbClr val="1C1C2B"/>
          </a:solidFill>
          <a:ln w="12700">
            <a:solidFill>
              <a:srgbClr val="2A2A3D"/>
            </a:solidFill>
            <a:prstDash val="solid"/>
          </a:ln>
        </p:spPr>
      </p:sp>
      <p:sp>
        <p:nvSpPr>
          <p:cNvPr id="14" name="Text 12"/>
          <p:cNvSpPr/>
          <p:nvPr/>
        </p:nvSpPr>
        <p:spPr>
          <a:xfrm>
            <a:off x="3721608" y="4553712"/>
            <a:ext cx="2011680" cy="566928"/>
          </a:xfrm>
          <a:prstGeom prst="rect">
            <a:avLst/>
          </a:prstGeom>
          <a:noFill/>
          <a:ln/>
        </p:spPr>
        <p:txBody>
          <a:bodyPr wrap="square" lIns="0" tIns="0" rIns="0" bIns="0" rtlCol="0" anchor="ctr"/>
          <a:lstStyle/>
          <a:p>
            <a:pPr indent="0" marL="0">
              <a:buNone/>
            </a:pPr>
            <a:r>
              <a:rPr lang="en-US" sz="3000" b="1" dirty="0">
                <a:solidFill>
                  <a:srgbClr val="F2F2F7"/>
                </a:solidFill>
                <a:latin typeface="Calibri" pitchFamily="34" charset="0"/>
                <a:ea typeface="Calibri" pitchFamily="34" charset="-122"/>
                <a:cs typeface="Calibri" pitchFamily="34" charset="-120"/>
              </a:rPr>
              <a:t>Instant</a:t>
            </a:r>
            <a:endParaRPr lang="en-US" sz="3000" dirty="0"/>
          </a:p>
        </p:txBody>
      </p:sp>
      <p:sp>
        <p:nvSpPr>
          <p:cNvPr id="15" name="Text 13"/>
          <p:cNvSpPr/>
          <p:nvPr/>
        </p:nvSpPr>
        <p:spPr>
          <a:xfrm>
            <a:off x="3721608" y="5102352"/>
            <a:ext cx="2011680" cy="713232"/>
          </a:xfrm>
          <a:prstGeom prst="rect">
            <a:avLst/>
          </a:prstGeom>
          <a:noFill/>
          <a:ln/>
        </p:spPr>
        <p:txBody>
          <a:bodyPr wrap="square" lIns="0" tIns="0" rIns="0" bIns="0" rtlCol="0" anchor="t"/>
          <a:lstStyle/>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settlement — UPI lands</a:t>
            </a:r>
            <a:endParaRPr lang="en-US" sz="1150" dirty="0"/>
          </a:p>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in seconds, not T+2</a:t>
            </a:r>
            <a:endParaRPr lang="en-US" sz="1150" dirty="0"/>
          </a:p>
        </p:txBody>
      </p:sp>
      <p:sp>
        <p:nvSpPr>
          <p:cNvPr id="16" name="Shape 14"/>
          <p:cNvSpPr/>
          <p:nvPr/>
        </p:nvSpPr>
        <p:spPr>
          <a:xfrm>
            <a:off x="6217920" y="4434840"/>
            <a:ext cx="2560320" cy="1600200"/>
          </a:xfrm>
          <a:prstGeom prst="roundRect">
            <a:avLst>
              <a:gd name="adj" fmla="val 6857"/>
            </a:avLst>
          </a:prstGeom>
          <a:solidFill>
            <a:srgbClr val="1C1C2B"/>
          </a:solidFill>
          <a:ln w="12700">
            <a:solidFill>
              <a:srgbClr val="2A2A3D"/>
            </a:solidFill>
            <a:prstDash val="solid"/>
          </a:ln>
        </p:spPr>
      </p:sp>
      <p:sp>
        <p:nvSpPr>
          <p:cNvPr id="17" name="Text 15"/>
          <p:cNvSpPr/>
          <p:nvPr/>
        </p:nvSpPr>
        <p:spPr>
          <a:xfrm>
            <a:off x="6510528" y="4553712"/>
            <a:ext cx="2011680" cy="566928"/>
          </a:xfrm>
          <a:prstGeom prst="rect">
            <a:avLst/>
          </a:prstGeom>
          <a:noFill/>
          <a:ln/>
        </p:spPr>
        <p:txBody>
          <a:bodyPr wrap="square" lIns="0" tIns="0" rIns="0" bIns="0" rtlCol="0" anchor="ctr"/>
          <a:lstStyle/>
          <a:p>
            <a:pPr indent="0" marL="0">
              <a:buNone/>
            </a:pPr>
            <a:r>
              <a:rPr lang="en-US" sz="3000" b="1" dirty="0">
                <a:solidFill>
                  <a:srgbClr val="F2F2F7"/>
                </a:solidFill>
                <a:latin typeface="Calibri" pitchFamily="34" charset="0"/>
                <a:ea typeface="Calibri" pitchFamily="34" charset="-122"/>
                <a:cs typeface="Calibri" pitchFamily="34" charset="-120"/>
              </a:rPr>
              <a:t>None</a:t>
            </a:r>
            <a:endParaRPr lang="en-US" sz="3000" dirty="0"/>
          </a:p>
        </p:txBody>
      </p:sp>
      <p:sp>
        <p:nvSpPr>
          <p:cNvPr id="18" name="Text 16"/>
          <p:cNvSpPr/>
          <p:nvPr/>
        </p:nvSpPr>
        <p:spPr>
          <a:xfrm>
            <a:off x="6510528" y="5102352"/>
            <a:ext cx="2011680" cy="713232"/>
          </a:xfrm>
          <a:prstGeom prst="rect">
            <a:avLst/>
          </a:prstGeom>
          <a:noFill/>
          <a:ln/>
        </p:spPr>
        <p:txBody>
          <a:bodyPr wrap="square" lIns="0" tIns="0" rIns="0" bIns="0" rtlCol="0" anchor="t"/>
          <a:lstStyle/>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of our capital tied up</a:t>
            </a:r>
            <a:endParaRPr lang="en-US" sz="1150" dirty="0"/>
          </a:p>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as float or reserve</a:t>
            </a:r>
            <a:endParaRPr lang="en-US" sz="1150" dirty="0"/>
          </a:p>
        </p:txBody>
      </p:sp>
      <p:sp>
        <p:nvSpPr>
          <p:cNvPr id="19" name="Shape 17"/>
          <p:cNvSpPr/>
          <p:nvPr/>
        </p:nvSpPr>
        <p:spPr>
          <a:xfrm>
            <a:off x="9006840" y="4434840"/>
            <a:ext cx="2560320" cy="1600200"/>
          </a:xfrm>
          <a:prstGeom prst="roundRect">
            <a:avLst>
              <a:gd name="adj" fmla="val 6857"/>
            </a:avLst>
          </a:prstGeom>
          <a:solidFill>
            <a:srgbClr val="1C1C2B"/>
          </a:solidFill>
          <a:ln w="12700">
            <a:solidFill>
              <a:srgbClr val="2A2A3D"/>
            </a:solidFill>
            <a:prstDash val="solid"/>
          </a:ln>
        </p:spPr>
      </p:sp>
      <p:sp>
        <p:nvSpPr>
          <p:cNvPr id="20" name="Text 18"/>
          <p:cNvSpPr/>
          <p:nvPr/>
        </p:nvSpPr>
        <p:spPr>
          <a:xfrm>
            <a:off x="9299448" y="4553712"/>
            <a:ext cx="2011680" cy="566928"/>
          </a:xfrm>
          <a:prstGeom prst="rect">
            <a:avLst/>
          </a:prstGeom>
          <a:noFill/>
          <a:ln/>
        </p:spPr>
        <p:txBody>
          <a:bodyPr wrap="square" lIns="0" tIns="0" rIns="0" bIns="0" rtlCol="0" anchor="ctr"/>
          <a:lstStyle/>
          <a:p>
            <a:pPr indent="0" marL="0">
              <a:buNone/>
            </a:pPr>
            <a:r>
              <a:rPr lang="en-US" sz="3000" b="1" dirty="0">
                <a:solidFill>
                  <a:srgbClr val="F2F2F7"/>
                </a:solidFill>
                <a:latin typeface="Calibri" pitchFamily="34" charset="0"/>
                <a:ea typeface="Calibri" pitchFamily="34" charset="-122"/>
                <a:cs typeface="Calibri" pitchFamily="34" charset="-120"/>
              </a:rPr>
              <a:t>Simple</a:t>
            </a:r>
            <a:endParaRPr lang="en-US" sz="3000" dirty="0"/>
          </a:p>
        </p:txBody>
      </p:sp>
      <p:sp>
        <p:nvSpPr>
          <p:cNvPr id="21" name="Text 19"/>
          <p:cNvSpPr/>
          <p:nvPr/>
        </p:nvSpPr>
        <p:spPr>
          <a:xfrm>
            <a:off x="9299448" y="5102352"/>
            <a:ext cx="2011680" cy="713232"/>
          </a:xfrm>
          <a:prstGeom prst="rect">
            <a:avLst/>
          </a:prstGeom>
          <a:noFill/>
          <a:ln/>
        </p:spPr>
        <p:txBody>
          <a:bodyPr wrap="square" lIns="0" tIns="0" rIns="0" bIns="0" rtlCol="0" anchor="t"/>
          <a:lstStyle/>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compliance: no PA licence,</a:t>
            </a:r>
            <a:endParaRPr lang="en-US" sz="1150" dirty="0"/>
          </a:p>
          <a:p>
            <a:pPr indent="0" marL="0">
              <a:lnSpc>
                <a:spcPts val="1500"/>
              </a:lnSpc>
              <a:buNone/>
            </a:pPr>
            <a:r>
              <a:rPr lang="en-US" sz="1150" dirty="0">
                <a:solidFill>
                  <a:srgbClr val="9A9AB4"/>
                </a:solidFill>
                <a:latin typeface="Calibri" pitchFamily="34" charset="0"/>
                <a:ea typeface="Calibri" pitchFamily="34" charset="-122"/>
                <a:cs typeface="Calibri" pitchFamily="34" charset="-120"/>
              </a:rPr>
              <a:t>no customer funds held</a:t>
            </a:r>
            <a:endParaRPr lang="en-US" sz="1150" dirty="0"/>
          </a:p>
        </p:txBody>
      </p:sp>
      <p:sp>
        <p:nvSpPr>
          <p:cNvPr id="22" name="Text 20"/>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How we make money.</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A flat fee per order. Never a share of the plate.</a:t>
            </a:r>
            <a:endParaRPr lang="en-US" sz="1550" dirty="0"/>
          </a:p>
        </p:txBody>
      </p:sp>
      <p:sp>
        <p:nvSpPr>
          <p:cNvPr id="4" name="Shape 2"/>
          <p:cNvSpPr/>
          <p:nvPr/>
        </p:nvSpPr>
        <p:spPr>
          <a:xfrm>
            <a:off x="640080" y="1920240"/>
            <a:ext cx="5303520" cy="1965960"/>
          </a:xfrm>
          <a:prstGeom prst="roundRect">
            <a:avLst>
              <a:gd name="adj" fmla="val 5581"/>
            </a:avLst>
          </a:prstGeom>
          <a:solidFill>
            <a:srgbClr val="1C1C2B"/>
          </a:solidFill>
          <a:ln w="12700">
            <a:solidFill>
              <a:srgbClr val="7C5CFF"/>
            </a:solidFill>
            <a:prstDash val="solid"/>
          </a:ln>
        </p:spPr>
      </p:sp>
      <p:sp>
        <p:nvSpPr>
          <p:cNvPr id="5" name="Text 3"/>
          <p:cNvSpPr/>
          <p:nvPr/>
        </p:nvSpPr>
        <p:spPr>
          <a:xfrm>
            <a:off x="1005840" y="2148840"/>
            <a:ext cx="4572000" cy="640080"/>
          </a:xfrm>
          <a:prstGeom prst="rect">
            <a:avLst/>
          </a:prstGeom>
          <a:noFill/>
          <a:ln/>
        </p:spPr>
        <p:txBody>
          <a:bodyPr wrap="square" lIns="0" tIns="0" rIns="0" bIns="0" rtlCol="0" anchor="ctr"/>
          <a:lstStyle/>
          <a:p>
            <a:pPr indent="0" marL="0">
              <a:buNone/>
            </a:pPr>
            <a:r>
              <a:rPr lang="en-US" sz="3400" b="1" dirty="0">
                <a:solidFill>
                  <a:srgbClr val="F2F2F7"/>
                </a:solidFill>
                <a:latin typeface="Calibri" pitchFamily="34" charset="0"/>
                <a:ea typeface="Calibri" pitchFamily="34" charset="-122"/>
                <a:cs typeface="Calibri" pitchFamily="34" charset="-120"/>
              </a:rPr>
              <a:t>Rs 1,000</a:t>
            </a:r>
            <a:endParaRPr lang="en-US" sz="3400" dirty="0"/>
          </a:p>
        </p:txBody>
      </p:sp>
      <p:sp>
        <p:nvSpPr>
          <p:cNvPr id="6" name="Text 4"/>
          <p:cNvSpPr/>
          <p:nvPr/>
        </p:nvSpPr>
        <p:spPr>
          <a:xfrm>
            <a:off x="1005840" y="2834640"/>
            <a:ext cx="4572000" cy="86868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once, to get set up — menu loaded, ordering page live, staff shown how it works.</a:t>
            </a:r>
            <a:endParaRPr lang="en-US" sz="1200" dirty="0"/>
          </a:p>
        </p:txBody>
      </p:sp>
      <p:sp>
        <p:nvSpPr>
          <p:cNvPr id="7" name="Shape 5"/>
          <p:cNvSpPr/>
          <p:nvPr/>
        </p:nvSpPr>
        <p:spPr>
          <a:xfrm>
            <a:off x="6217920" y="1920240"/>
            <a:ext cx="5303520" cy="1965960"/>
          </a:xfrm>
          <a:prstGeom prst="roundRect">
            <a:avLst>
              <a:gd name="adj" fmla="val 5581"/>
            </a:avLst>
          </a:prstGeom>
          <a:solidFill>
            <a:srgbClr val="1C1C2B"/>
          </a:solidFill>
          <a:ln w="12700">
            <a:solidFill>
              <a:srgbClr val="25D366"/>
            </a:solidFill>
            <a:prstDash val="solid"/>
          </a:ln>
        </p:spPr>
      </p:sp>
      <p:sp>
        <p:nvSpPr>
          <p:cNvPr id="8" name="Text 6"/>
          <p:cNvSpPr/>
          <p:nvPr/>
        </p:nvSpPr>
        <p:spPr>
          <a:xfrm>
            <a:off x="6583680" y="2148840"/>
            <a:ext cx="4572000" cy="640080"/>
          </a:xfrm>
          <a:prstGeom prst="rect">
            <a:avLst/>
          </a:prstGeom>
          <a:noFill/>
          <a:ln/>
        </p:spPr>
        <p:txBody>
          <a:bodyPr wrap="square" lIns="0" tIns="0" rIns="0" bIns="0" rtlCol="0" anchor="ctr"/>
          <a:lstStyle/>
          <a:p>
            <a:pPr indent="0" marL="0">
              <a:buNone/>
            </a:pPr>
            <a:r>
              <a:rPr lang="en-US" sz="3400" b="1" dirty="0">
                <a:solidFill>
                  <a:srgbClr val="25D366"/>
                </a:solidFill>
                <a:latin typeface="Calibri" pitchFamily="34" charset="0"/>
                <a:ea typeface="Calibri" pitchFamily="34" charset="-122"/>
                <a:cs typeface="Calibri" pitchFamily="34" charset="-120"/>
              </a:rPr>
              <a:t>Rs 20</a:t>
            </a:r>
            <a:endParaRPr lang="en-US" sz="3400" dirty="0"/>
          </a:p>
        </p:txBody>
      </p:sp>
      <p:sp>
        <p:nvSpPr>
          <p:cNvPr id="9" name="Text 7"/>
          <p:cNvSpPr/>
          <p:nvPr/>
        </p:nvSpPr>
        <p:spPr>
          <a:xfrm>
            <a:off x="6583680" y="2834640"/>
            <a:ext cx="4572000" cy="86868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per completed order. Not per attempt, not per cancellation — per plate that actually reached somebody.</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10881360" cy="914400"/>
        </p:xfrm>
        <a:graphic>
          <a:graphicData uri="http://schemas.openxmlformats.org/drawingml/2006/table">
            <a:tbl>
              <a:tblPr/>
              <a:tblGrid>
                <a:gridCol w="3931920"/>
                <a:gridCol w="3657600"/>
                <a:gridCol w="3291840"/>
              </a:tblGrid>
              <a:tr h="347472">
                <a:tc>
                  <a:txBody>
                    <a:bodyPr/>
                    <a:lstStyle/>
                    <a:p>
                      <a:pPr indent="0" marL="0">
                        <a:buNone/>
                      </a:pPr>
                      <a:r>
                        <a:rPr lang="en-US" sz="1150" b="1" dirty="0">
                          <a:solidFill>
                            <a:srgbClr val="F2F2F7"/>
                          </a:solidFill>
                          <a:latin typeface="Calibri" pitchFamily="34" charset="0"/>
                          <a:ea typeface="Calibri" pitchFamily="34" charset="-122"/>
                          <a:cs typeface="Calibri" pitchFamily="34" charset="-120"/>
                        </a:rPr>
                        <a:t>On a Rs 400 order</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71723"/>
                    </a:solidFill>
                  </a:tcPr>
                </a:tc>
                <a:tc>
                  <a:txBody>
                    <a:bodyPr/>
                    <a:lstStyle/>
                    <a:p>
                      <a:pPr indent="0" marL="0">
                        <a:buNone/>
                      </a:pPr>
                      <a:r>
                        <a:rPr lang="en-US" sz="1150" b="1" dirty="0">
                          <a:solidFill>
                            <a:srgbClr val="F96167"/>
                          </a:solidFill>
                          <a:latin typeface="Calibri" pitchFamily="34" charset="0"/>
                          <a:ea typeface="Calibri" pitchFamily="34" charset="-122"/>
                          <a:cs typeface="Calibri" pitchFamily="34" charset="-120"/>
                        </a:rPr>
                        <a:t>Aggregator</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71723"/>
                    </a:solidFill>
                  </a:tcPr>
                </a:tc>
                <a:tc>
                  <a:txBody>
                    <a:bodyPr/>
                    <a:lstStyle/>
                    <a:p>
                      <a:pPr indent="0" marL="0">
                        <a:buNone/>
                      </a:pPr>
                      <a:r>
                        <a:rPr lang="en-US" sz="1150" b="1" dirty="0">
                          <a:solidFill>
                            <a:srgbClr val="25D366"/>
                          </a:solidFill>
                          <a:latin typeface="Calibri" pitchFamily="34" charset="0"/>
                          <a:ea typeface="Calibri" pitchFamily="34" charset="-122"/>
                          <a:cs typeface="Calibri" pitchFamily="34" charset="-120"/>
                        </a:rPr>
                        <a:t>Selly</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71723"/>
                    </a:solidFill>
                  </a:tcPr>
                </a:tc>
              </a:tr>
              <a:tr h="347472">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What the platform takes</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Roughly Rs 100 – 120</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Rs 20</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r>
              <a:tr h="347472">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A percentage — it grows with the bill</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Flat — it does not</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r>
              <a:tr h="347472">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Who owns the customer</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The platform</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The kitchen</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r>
              <a:tr h="347472">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Who sets the price</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Pressured by discounting</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c>
                  <a:txBody>
                    <a:bodyPr/>
                    <a:lstStyle/>
                    <a:p>
                      <a:pPr indent="0" marL="0">
                        <a:buNone/>
                      </a:pPr>
                      <a:r>
                        <a:rPr lang="en-US" sz="1150" dirty="0">
                          <a:solidFill>
                            <a:srgbClr val="9A9AB4"/>
                          </a:solidFill>
                          <a:latin typeface="Calibri" pitchFamily="34" charset="0"/>
                          <a:ea typeface="Calibri" pitchFamily="34" charset="-122"/>
                          <a:cs typeface="Calibri" pitchFamily="34" charset="-120"/>
                        </a:rPr>
                        <a:t>The kitchen</a:t>
                      </a:r>
                      <a:endParaRPr lang="en-US" sz="1150" dirty="0">
                        <a:latin typeface="Calibri" charset="0"/>
                        <a:ea typeface="Calibri" charset="0"/>
                        <a:cs typeface="Calibri" charset="0"/>
                      </a:endParaRPr>
                    </a:p>
                  </a:txBody>
                  <a:tcPr marL="76200" marR="76200" marT="76200" marB="76200" anchor="ctr">
                    <a:lnL w="12700" cap="flat" cmpd="sng" algn="ctr">
                      <a:solidFill>
                        <a:srgbClr val="2A2A3D"/>
                      </a:solidFill>
                      <a:prstDash val="solid"/>
                      <a:round/>
                      <a:headEnd type="none" w="med" len="med"/>
                      <a:tailEnd type="none" w="med" len="med"/>
                    </a:lnL>
                    <a:lnR w="12700" cap="flat" cmpd="sng" algn="ctr">
                      <a:solidFill>
                        <a:srgbClr val="2A2A3D"/>
                      </a:solidFill>
                      <a:prstDash val="solid"/>
                      <a:round/>
                      <a:headEnd type="none" w="med" len="med"/>
                      <a:tailEnd type="none" w="med" len="med"/>
                    </a:lnR>
                    <a:lnT w="12700" cap="flat" cmpd="sng" algn="ctr">
                      <a:solidFill>
                        <a:srgbClr val="2A2A3D"/>
                      </a:solidFill>
                      <a:prstDash val="solid"/>
                      <a:round/>
                      <a:headEnd type="none" w="med" len="med"/>
                      <a:tailEnd type="none" w="med" len="med"/>
                    </a:lnT>
                    <a:lnB w="12700" cap="flat" cmpd="sng" algn="ctr">
                      <a:solidFill>
                        <a:srgbClr val="2A2A3D"/>
                      </a:solidFill>
                      <a:prstDash val="solid"/>
                      <a:round/>
                      <a:headEnd type="none" w="med" len="med"/>
                      <a:tailEnd type="none" w="med" len="med"/>
                    </a:lnB>
                    <a:solidFill>
                      <a:srgbClr val="1C1C2B"/>
                    </a:solidFill>
                  </a:tcPr>
                </a:tc>
              </a:tr>
            </a:tbl>
          </a:graphicData>
        </a:graphic>
      </p:graphicFrame>
      <p:sp>
        <p:nvSpPr>
          <p:cNvPr id="11" name="Text 8"/>
          <p:cNvSpPr/>
          <p:nvPr/>
        </p:nvSpPr>
        <p:spPr>
          <a:xfrm>
            <a:off x="640080" y="6144768"/>
            <a:ext cx="10881360" cy="320040"/>
          </a:xfrm>
          <a:prstGeom prst="rect">
            <a:avLst/>
          </a:prstGeom>
          <a:noFill/>
          <a:ln/>
        </p:spPr>
        <p:txBody>
          <a:bodyPr wrap="square" lIns="0" tIns="0" rIns="0" bIns="0" rtlCol="0" anchor="t"/>
          <a:lstStyle/>
          <a:p>
            <a:pPr indent="0" marL="0">
              <a:buNone/>
            </a:pPr>
            <a:r>
              <a:rPr lang="en-US" sz="950" i="1" dirty="0">
                <a:solidFill>
                  <a:srgbClr val="63637D"/>
                </a:solidFill>
                <a:latin typeface="Calibri" pitchFamily="34" charset="0"/>
                <a:ea typeface="Calibri" pitchFamily="34" charset="-122"/>
                <a:cs typeface="Calibri" pitchFamily="34" charset="-120"/>
              </a:rPr>
              <a:t>Commission figures are the publicly discussed range for Indian food aggregators, before advertising and discount funding.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Unit economics.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The whole cost of serving an order is the messages we send about it.</a:t>
            </a:r>
            <a:endParaRPr lang="en-US" sz="1550" dirty="0"/>
          </a:p>
        </p:txBody>
      </p:sp>
      <p:sp>
        <p:nvSpPr>
          <p:cNvPr id="4" name="Shape 2"/>
          <p:cNvSpPr/>
          <p:nvPr/>
        </p:nvSpPr>
        <p:spPr>
          <a:xfrm>
            <a:off x="640080" y="1920240"/>
            <a:ext cx="6766560" cy="493776"/>
          </a:xfrm>
          <a:prstGeom prst="roundRect">
            <a:avLst>
              <a:gd name="adj" fmla="val 22222"/>
            </a:avLst>
          </a:prstGeom>
          <a:solidFill>
            <a:srgbClr val="171723"/>
          </a:solidFill>
          <a:ln w="12700">
            <a:solidFill>
              <a:srgbClr val="2A2A3D"/>
            </a:solidFill>
            <a:prstDash val="solid"/>
          </a:ln>
        </p:spPr>
      </p:sp>
      <p:sp>
        <p:nvSpPr>
          <p:cNvPr id="5" name="Text 3"/>
          <p:cNvSpPr/>
          <p:nvPr/>
        </p:nvSpPr>
        <p:spPr>
          <a:xfrm>
            <a:off x="960120" y="1920240"/>
            <a:ext cx="4480560" cy="493776"/>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Revenue per completed order</a:t>
            </a:r>
            <a:endParaRPr lang="en-US" sz="1150" dirty="0"/>
          </a:p>
        </p:txBody>
      </p:sp>
      <p:sp>
        <p:nvSpPr>
          <p:cNvPr id="6" name="Text 4"/>
          <p:cNvSpPr/>
          <p:nvPr/>
        </p:nvSpPr>
        <p:spPr>
          <a:xfrm>
            <a:off x="5486400" y="1920240"/>
            <a:ext cx="1691640" cy="493776"/>
          </a:xfrm>
          <a:prstGeom prst="rect">
            <a:avLst/>
          </a:prstGeom>
          <a:noFill/>
          <a:ln/>
        </p:spPr>
        <p:txBody>
          <a:bodyPr wrap="square" lIns="0" tIns="0" rIns="0" bIns="0" rtlCol="0" anchor="ctr"/>
          <a:lstStyle/>
          <a:p>
            <a:pPr algn="r" indent="0" marL="0">
              <a:buNone/>
            </a:pPr>
            <a:r>
              <a:rPr lang="en-US" sz="1200" b="1" dirty="0">
                <a:solidFill>
                  <a:srgbClr val="25D366"/>
                </a:solidFill>
                <a:latin typeface="Calibri" pitchFamily="34" charset="0"/>
                <a:ea typeface="Calibri" pitchFamily="34" charset="-122"/>
                <a:cs typeface="Calibri" pitchFamily="34" charset="-120"/>
              </a:rPr>
              <a:t>Rs 20.00</a:t>
            </a:r>
            <a:endParaRPr lang="en-US" sz="1200" dirty="0"/>
          </a:p>
        </p:txBody>
      </p:sp>
      <p:sp>
        <p:nvSpPr>
          <p:cNvPr id="7" name="Shape 5"/>
          <p:cNvSpPr/>
          <p:nvPr/>
        </p:nvSpPr>
        <p:spPr>
          <a:xfrm>
            <a:off x="640080" y="2487168"/>
            <a:ext cx="6766560" cy="493776"/>
          </a:xfrm>
          <a:prstGeom prst="roundRect">
            <a:avLst>
              <a:gd name="adj" fmla="val 22222"/>
            </a:avLst>
          </a:prstGeom>
          <a:solidFill>
            <a:srgbClr val="171723"/>
          </a:solidFill>
          <a:ln w="12700">
            <a:solidFill>
              <a:srgbClr val="2A2A3D"/>
            </a:solidFill>
            <a:prstDash val="solid"/>
          </a:ln>
        </p:spPr>
      </p:sp>
      <p:sp>
        <p:nvSpPr>
          <p:cNvPr id="8" name="Text 6"/>
          <p:cNvSpPr/>
          <p:nvPr/>
        </p:nvSpPr>
        <p:spPr>
          <a:xfrm>
            <a:off x="960120" y="2487168"/>
            <a:ext cx="4480560" cy="493776"/>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Messages per order (welcome, confirm, delivered)</a:t>
            </a:r>
            <a:endParaRPr lang="en-US" sz="1150" dirty="0"/>
          </a:p>
        </p:txBody>
      </p:sp>
      <p:sp>
        <p:nvSpPr>
          <p:cNvPr id="9" name="Text 7"/>
          <p:cNvSpPr/>
          <p:nvPr/>
        </p:nvSpPr>
        <p:spPr>
          <a:xfrm>
            <a:off x="5486400" y="2487168"/>
            <a:ext cx="1691640" cy="493776"/>
          </a:xfrm>
          <a:prstGeom prst="rect">
            <a:avLst/>
          </a:prstGeom>
          <a:noFill/>
          <a:ln/>
        </p:spPr>
        <p:txBody>
          <a:bodyPr wrap="square" lIns="0" tIns="0" rIns="0" bIns="0" rtlCol="0" anchor="ctr"/>
          <a:lstStyle/>
          <a:p>
            <a:pPr algn="r" indent="0" marL="0">
              <a:buNone/>
            </a:pPr>
            <a:r>
              <a:rPr lang="en-US" sz="1200" b="1" dirty="0">
                <a:solidFill>
                  <a:srgbClr val="9A9AB4"/>
                </a:solidFill>
                <a:latin typeface="Calibri" pitchFamily="34" charset="0"/>
                <a:ea typeface="Calibri" pitchFamily="34" charset="-122"/>
                <a:cs typeface="Calibri" pitchFamily="34" charset="-120"/>
              </a:rPr>
              <a:t>3</a:t>
            </a:r>
            <a:endParaRPr lang="en-US" sz="1200" dirty="0"/>
          </a:p>
        </p:txBody>
      </p:sp>
      <p:sp>
        <p:nvSpPr>
          <p:cNvPr id="10" name="Shape 8"/>
          <p:cNvSpPr/>
          <p:nvPr/>
        </p:nvSpPr>
        <p:spPr>
          <a:xfrm>
            <a:off x="640080" y="3054096"/>
            <a:ext cx="6766560" cy="493776"/>
          </a:xfrm>
          <a:prstGeom prst="roundRect">
            <a:avLst>
              <a:gd name="adj" fmla="val 22222"/>
            </a:avLst>
          </a:prstGeom>
          <a:solidFill>
            <a:srgbClr val="171723"/>
          </a:solidFill>
          <a:ln w="12700">
            <a:solidFill>
              <a:srgbClr val="2A2A3D"/>
            </a:solidFill>
            <a:prstDash val="solid"/>
          </a:ln>
        </p:spPr>
      </p:sp>
      <p:sp>
        <p:nvSpPr>
          <p:cNvPr id="11" name="Text 9"/>
          <p:cNvSpPr/>
          <p:nvPr/>
        </p:nvSpPr>
        <p:spPr>
          <a:xfrm>
            <a:off x="960120" y="3054096"/>
            <a:ext cx="4480560" cy="493776"/>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SMS cost at Rs 0.20 each</a:t>
            </a:r>
            <a:endParaRPr lang="en-US" sz="1150" dirty="0"/>
          </a:p>
        </p:txBody>
      </p:sp>
      <p:sp>
        <p:nvSpPr>
          <p:cNvPr id="12" name="Text 10"/>
          <p:cNvSpPr/>
          <p:nvPr/>
        </p:nvSpPr>
        <p:spPr>
          <a:xfrm>
            <a:off x="5486400" y="3054096"/>
            <a:ext cx="1691640" cy="493776"/>
          </a:xfrm>
          <a:prstGeom prst="rect">
            <a:avLst/>
          </a:prstGeom>
          <a:noFill/>
          <a:ln/>
        </p:spPr>
        <p:txBody>
          <a:bodyPr wrap="square" lIns="0" tIns="0" rIns="0" bIns="0" rtlCol="0" anchor="ctr"/>
          <a:lstStyle/>
          <a:p>
            <a:pPr algn="r" indent="0" marL="0">
              <a:buNone/>
            </a:pPr>
            <a:r>
              <a:rPr lang="en-US" sz="1200" b="1" dirty="0">
                <a:solidFill>
                  <a:srgbClr val="F96167"/>
                </a:solidFill>
                <a:latin typeface="Calibri" pitchFamily="34" charset="0"/>
                <a:ea typeface="Calibri" pitchFamily="34" charset="-122"/>
                <a:cs typeface="Calibri" pitchFamily="34" charset="-120"/>
              </a:rPr>
              <a:t>– Rs 0.60</a:t>
            </a:r>
            <a:endParaRPr lang="en-US" sz="1200" dirty="0"/>
          </a:p>
        </p:txBody>
      </p:sp>
      <p:sp>
        <p:nvSpPr>
          <p:cNvPr id="13" name="Shape 11"/>
          <p:cNvSpPr/>
          <p:nvPr/>
        </p:nvSpPr>
        <p:spPr>
          <a:xfrm>
            <a:off x="640080" y="3621024"/>
            <a:ext cx="6766560" cy="493776"/>
          </a:xfrm>
          <a:prstGeom prst="roundRect">
            <a:avLst>
              <a:gd name="adj" fmla="val 22222"/>
            </a:avLst>
          </a:prstGeom>
          <a:solidFill>
            <a:srgbClr val="171723"/>
          </a:solidFill>
          <a:ln w="12700">
            <a:solidFill>
              <a:srgbClr val="2A2A3D"/>
            </a:solidFill>
            <a:prstDash val="solid"/>
          </a:ln>
        </p:spPr>
      </p:sp>
      <p:sp>
        <p:nvSpPr>
          <p:cNvPr id="14" name="Text 12"/>
          <p:cNvSpPr/>
          <p:nvPr/>
        </p:nvSpPr>
        <p:spPr>
          <a:xfrm>
            <a:off x="960120" y="3621024"/>
            <a:ext cx="4480560" cy="493776"/>
          </a:xfrm>
          <a:prstGeom prst="rect">
            <a:avLst/>
          </a:prstGeom>
          <a:noFill/>
          <a:ln/>
        </p:spPr>
        <p:txBody>
          <a:bodyPr wrap="square" lIns="0" tIns="0" rIns="0" bIns="0" rtlCol="0" anchor="ctr"/>
          <a:lstStyle/>
          <a:p>
            <a:pPr indent="0" marL="0">
              <a:buNone/>
            </a:pPr>
            <a:r>
              <a:rPr lang="en-US" sz="1150" dirty="0">
                <a:solidFill>
                  <a:srgbClr val="9A9AB4"/>
                </a:solidFill>
                <a:latin typeface="Calibri" pitchFamily="34" charset="0"/>
                <a:ea typeface="Calibri" pitchFamily="34" charset="-122"/>
                <a:cs typeface="Calibri" pitchFamily="34" charset="-120"/>
              </a:rPr>
              <a:t>Database and hosting, per order</a:t>
            </a:r>
            <a:endParaRPr lang="en-US" sz="1150" dirty="0"/>
          </a:p>
        </p:txBody>
      </p:sp>
      <p:sp>
        <p:nvSpPr>
          <p:cNvPr id="15" name="Text 13"/>
          <p:cNvSpPr/>
          <p:nvPr/>
        </p:nvSpPr>
        <p:spPr>
          <a:xfrm>
            <a:off x="5486400" y="3621024"/>
            <a:ext cx="1691640" cy="493776"/>
          </a:xfrm>
          <a:prstGeom prst="rect">
            <a:avLst/>
          </a:prstGeom>
          <a:noFill/>
          <a:ln/>
        </p:spPr>
        <p:txBody>
          <a:bodyPr wrap="square" lIns="0" tIns="0" rIns="0" bIns="0" rtlCol="0" anchor="ctr"/>
          <a:lstStyle/>
          <a:p>
            <a:pPr algn="r" indent="0" marL="0">
              <a:buNone/>
            </a:pPr>
            <a:r>
              <a:rPr lang="en-US" sz="1200" b="1" dirty="0">
                <a:solidFill>
                  <a:srgbClr val="9A9AB4"/>
                </a:solidFill>
                <a:latin typeface="Calibri" pitchFamily="34" charset="0"/>
                <a:ea typeface="Calibri" pitchFamily="34" charset="-122"/>
                <a:cs typeface="Calibri" pitchFamily="34" charset="-120"/>
              </a:rPr>
              <a:t>negligible at this volume</a:t>
            </a:r>
            <a:endParaRPr lang="en-US" sz="1200" dirty="0"/>
          </a:p>
        </p:txBody>
      </p:sp>
      <p:sp>
        <p:nvSpPr>
          <p:cNvPr id="16" name="Shape 14"/>
          <p:cNvSpPr/>
          <p:nvPr/>
        </p:nvSpPr>
        <p:spPr>
          <a:xfrm>
            <a:off x="640080" y="4187952"/>
            <a:ext cx="6766560" cy="493776"/>
          </a:xfrm>
          <a:prstGeom prst="roundRect">
            <a:avLst>
              <a:gd name="adj" fmla="val 22222"/>
            </a:avLst>
          </a:prstGeom>
          <a:solidFill>
            <a:srgbClr val="1C1C2B"/>
          </a:solidFill>
          <a:ln w="12700">
            <a:solidFill>
              <a:srgbClr val="25D366"/>
            </a:solidFill>
            <a:prstDash val="solid"/>
          </a:ln>
        </p:spPr>
      </p:sp>
      <p:sp>
        <p:nvSpPr>
          <p:cNvPr id="17" name="Text 15"/>
          <p:cNvSpPr/>
          <p:nvPr/>
        </p:nvSpPr>
        <p:spPr>
          <a:xfrm>
            <a:off x="960120" y="4187952"/>
            <a:ext cx="4480560" cy="493776"/>
          </a:xfrm>
          <a:prstGeom prst="rect">
            <a:avLst/>
          </a:prstGeom>
          <a:noFill/>
          <a:ln/>
        </p:spPr>
        <p:txBody>
          <a:bodyPr wrap="square" lIns="0" tIns="0" rIns="0" bIns="0" rtlCol="0" anchor="ctr"/>
          <a:lstStyle/>
          <a:p>
            <a:pPr indent="0" marL="0">
              <a:buNone/>
            </a:pPr>
            <a:r>
              <a:rPr lang="en-US" sz="1150" b="1" dirty="0">
                <a:solidFill>
                  <a:srgbClr val="F2F2F7"/>
                </a:solidFill>
                <a:latin typeface="Calibri" pitchFamily="34" charset="0"/>
                <a:ea typeface="Calibri" pitchFamily="34" charset="-122"/>
                <a:cs typeface="Calibri" pitchFamily="34" charset="-120"/>
              </a:rPr>
              <a:t>Gross contribution per order</a:t>
            </a:r>
            <a:endParaRPr lang="en-US" sz="1150" dirty="0"/>
          </a:p>
        </p:txBody>
      </p:sp>
      <p:sp>
        <p:nvSpPr>
          <p:cNvPr id="18" name="Text 16"/>
          <p:cNvSpPr/>
          <p:nvPr/>
        </p:nvSpPr>
        <p:spPr>
          <a:xfrm>
            <a:off x="5486400" y="4187952"/>
            <a:ext cx="1691640" cy="493776"/>
          </a:xfrm>
          <a:prstGeom prst="rect">
            <a:avLst/>
          </a:prstGeom>
          <a:noFill/>
          <a:ln/>
        </p:spPr>
        <p:txBody>
          <a:bodyPr wrap="square" lIns="0" tIns="0" rIns="0" bIns="0" rtlCol="0" anchor="ctr"/>
          <a:lstStyle/>
          <a:p>
            <a:pPr algn="r" indent="0" marL="0">
              <a:buNone/>
            </a:pPr>
            <a:r>
              <a:rPr lang="en-US" sz="1200" b="1" dirty="0">
                <a:solidFill>
                  <a:srgbClr val="25D366"/>
                </a:solidFill>
                <a:latin typeface="Calibri" pitchFamily="34" charset="0"/>
                <a:ea typeface="Calibri" pitchFamily="34" charset="-122"/>
                <a:cs typeface="Calibri" pitchFamily="34" charset="-120"/>
              </a:rPr>
              <a:t>≈ Rs 19.40</a:t>
            </a:r>
            <a:endParaRPr lang="en-US" sz="1200" dirty="0"/>
          </a:p>
        </p:txBody>
      </p:sp>
      <p:sp>
        <p:nvSpPr>
          <p:cNvPr id="19" name="Shape 17"/>
          <p:cNvSpPr/>
          <p:nvPr/>
        </p:nvSpPr>
        <p:spPr>
          <a:xfrm>
            <a:off x="7680960" y="1920240"/>
            <a:ext cx="3840480" cy="2889504"/>
          </a:xfrm>
          <a:prstGeom prst="roundRect">
            <a:avLst>
              <a:gd name="adj" fmla="val 3797"/>
            </a:avLst>
          </a:prstGeom>
          <a:solidFill>
            <a:srgbClr val="1C1C2B"/>
          </a:solidFill>
          <a:ln w="12700">
            <a:solidFill>
              <a:srgbClr val="2A2A3D"/>
            </a:solidFill>
            <a:prstDash val="solid"/>
          </a:ln>
        </p:spPr>
      </p:sp>
      <p:sp>
        <p:nvSpPr>
          <p:cNvPr id="20" name="Text 18"/>
          <p:cNvSpPr/>
          <p:nvPr/>
        </p:nvSpPr>
        <p:spPr>
          <a:xfrm>
            <a:off x="8001000" y="2148840"/>
            <a:ext cx="320040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What this means</a:t>
            </a:r>
            <a:endParaRPr lang="en-US" sz="1500" dirty="0"/>
          </a:p>
        </p:txBody>
      </p:sp>
      <p:sp>
        <p:nvSpPr>
          <p:cNvPr id="21" name="Text 19"/>
          <p:cNvSpPr/>
          <p:nvPr/>
        </p:nvSpPr>
        <p:spPr>
          <a:xfrm>
            <a:off x="8001000" y="2606040"/>
            <a:ext cx="3200400" cy="2103120"/>
          </a:xfrm>
          <a:prstGeom prst="rect">
            <a:avLst/>
          </a:prstGeom>
          <a:noFill/>
          <a:ln/>
        </p:spPr>
        <p:txBody>
          <a:bodyPr wrap="square" lIns="0" tIns="0" rIns="0" bIns="0" rtlCol="0" anchor="t"/>
          <a:lstStyle/>
          <a:p>
            <a:pPr indent="0" marL="0">
              <a:lnSpc>
                <a:spcPts val="1550"/>
              </a:lnSpc>
              <a:buNone/>
            </a:pPr>
            <a:r>
              <a:rPr lang="en-US" sz="1100" dirty="0">
                <a:solidFill>
                  <a:srgbClr val="9A9AB4"/>
                </a:solidFill>
                <a:latin typeface="Calibri" pitchFamily="34" charset="0"/>
                <a:ea typeface="Calibri" pitchFamily="34" charset="-122"/>
                <a:cs typeface="Calibri" pitchFamily="34" charset="-120"/>
              </a:rPr>
              <a:t>Gross margin is roughly 97%, because we sell software and buy only messages.</a:t>
            </a:r>
            <a:endParaRPr lang="en-US" sz="1100" dirty="0"/>
          </a:p>
          <a:p>
            <a:pPr indent="0" marL="0">
              <a:lnSpc>
                <a:spcPts val="1550"/>
              </a:lnSpc>
              <a:buNone/>
            </a:pPr>
            <a:endParaRPr lang="en-US" sz="1100" dirty="0"/>
          </a:p>
          <a:p>
            <a:pPr indent="0" marL="0">
              <a:lnSpc>
                <a:spcPts val="1550"/>
              </a:lnSpc>
              <a:buNone/>
            </a:pPr>
            <a:r>
              <a:rPr lang="en-US" sz="1100" dirty="0">
                <a:solidFill>
                  <a:srgbClr val="9A9AB4"/>
                </a:solidFill>
                <a:latin typeface="Calibri" pitchFamily="34" charset="0"/>
                <a:ea typeface="Calibri" pitchFamily="34" charset="-122"/>
                <a:cs typeface="Calibri" pitchFamily="34" charset="-120"/>
              </a:rPr>
              <a:t>There is no fleet, no kitchen, no inventory and no discount funding. Costs scale with orders, not with headcount.</a:t>
            </a:r>
            <a:endParaRPr lang="en-US" sz="1100" dirty="0"/>
          </a:p>
          <a:p>
            <a:pPr indent="0" marL="0">
              <a:lnSpc>
                <a:spcPts val="1550"/>
              </a:lnSpc>
              <a:buNone/>
            </a:pPr>
            <a:endParaRPr lang="en-US" sz="1100" dirty="0"/>
          </a:p>
          <a:p>
            <a:pPr indent="0" marL="0">
              <a:lnSpc>
                <a:spcPts val="1550"/>
              </a:lnSpc>
              <a:buNone/>
            </a:pPr>
            <a:r>
              <a:rPr lang="en-US" sz="1100" dirty="0">
                <a:solidFill>
                  <a:srgbClr val="9A9AB4"/>
                </a:solidFill>
                <a:latin typeface="Calibri" pitchFamily="34" charset="0"/>
                <a:ea typeface="Calibri" pitchFamily="34" charset="-122"/>
                <a:cs typeface="Calibri" pitchFamily="34" charset="-120"/>
              </a:rPr>
              <a:t>The Rs 1,000 onboarding fee covers the one genuinely manual step — getting a kitchen set up — so growth does not have to be subsidised.</a:t>
            </a:r>
            <a:endParaRPr lang="en-US" sz="1100" dirty="0"/>
          </a:p>
        </p:txBody>
      </p:sp>
      <p:sp>
        <p:nvSpPr>
          <p:cNvPr id="22" name="Shape 20"/>
          <p:cNvSpPr/>
          <p:nvPr/>
        </p:nvSpPr>
        <p:spPr>
          <a:xfrm>
            <a:off x="640080" y="5029200"/>
            <a:ext cx="10881360" cy="960120"/>
          </a:xfrm>
          <a:prstGeom prst="roundRect">
            <a:avLst>
              <a:gd name="adj" fmla="val 11429"/>
            </a:avLst>
          </a:prstGeom>
          <a:solidFill>
            <a:srgbClr val="171723"/>
          </a:solidFill>
          <a:ln w="12700">
            <a:solidFill>
              <a:srgbClr val="2A2A3D"/>
            </a:solidFill>
            <a:prstDash val="solid"/>
          </a:ln>
        </p:spPr>
      </p:sp>
      <p:sp>
        <p:nvSpPr>
          <p:cNvPr id="23" name="Text 21"/>
          <p:cNvSpPr/>
          <p:nvPr/>
        </p:nvSpPr>
        <p:spPr>
          <a:xfrm>
            <a:off x="960120" y="5029200"/>
            <a:ext cx="10241280" cy="960120"/>
          </a:xfrm>
          <a:prstGeom prst="rect">
            <a:avLst/>
          </a:prstGeom>
          <a:noFill/>
          <a:ln/>
        </p:spPr>
        <p:txBody>
          <a:bodyPr wrap="square" lIns="0" tIns="0" rIns="0" bIns="0" rtlCol="0" anchor="ctr"/>
          <a:lstStyle/>
          <a:p>
            <a:pPr indent="0" marL="0">
              <a:lnSpc>
                <a:spcPts val="1550"/>
              </a:lnSpc>
              <a:buNone/>
            </a:pPr>
            <a:r>
              <a:rPr lang="en-US" sz="1100" b="1" dirty="0">
                <a:solidFill>
                  <a:srgbClr val="F5A524"/>
                </a:solidFill>
                <a:latin typeface="Calibri" pitchFamily="34" charset="0"/>
                <a:ea typeface="Calibri" pitchFamily="34" charset="-122"/>
                <a:cs typeface="Calibri" pitchFamily="34" charset="-120"/>
              </a:rPr>
              <a:t>Assumptions stated plainly.  </a:t>
            </a:r>
            <a:pPr indent="0" marL="0">
              <a:lnSpc>
                <a:spcPts val="1550"/>
              </a:lnSpc>
              <a:buNone/>
            </a:pPr>
            <a:r>
              <a:rPr lang="en-US" sz="1100" dirty="0">
                <a:solidFill>
                  <a:srgbClr val="9A9AB4"/>
                </a:solidFill>
                <a:latin typeface="Calibri" pitchFamily="34" charset="0"/>
                <a:ea typeface="Calibri" pitchFamily="34" charset="-122"/>
                <a:cs typeface="Calibri" pitchFamily="34" charset="-120"/>
              </a:rPr>
              <a:t>Rs 0.20 per SMS is mid-range for an Indian aggregator on transactional volume and will fall with scale. Three messages per order is our current design. Neither is a forecast — both are inputs you should push on.</a:t>
            </a:r>
            <a:endParaRPr lang="en-US" sz="1100" dirty="0"/>
          </a:p>
        </p:txBody>
      </p:sp>
      <p:sp>
        <p:nvSpPr>
          <p:cNvPr id="24" name="Text 22"/>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Where we are today.</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Stated at its real size.</a:t>
            </a:r>
            <a:endParaRPr lang="en-US" sz="1550" dirty="0"/>
          </a:p>
        </p:txBody>
      </p:sp>
      <p:sp>
        <p:nvSpPr>
          <p:cNvPr id="4" name="Shape 2"/>
          <p:cNvSpPr/>
          <p:nvPr/>
        </p:nvSpPr>
        <p:spPr>
          <a:xfrm>
            <a:off x="640080" y="1920240"/>
            <a:ext cx="5349240" cy="3840480"/>
          </a:xfrm>
          <a:prstGeom prst="roundRect">
            <a:avLst>
              <a:gd name="adj" fmla="val 2857"/>
            </a:avLst>
          </a:prstGeom>
          <a:solidFill>
            <a:srgbClr val="171723"/>
          </a:solidFill>
          <a:ln w="12700">
            <a:solidFill>
              <a:srgbClr val="2A2A3D"/>
            </a:solidFill>
            <a:prstDash val="solid"/>
          </a:ln>
        </p:spPr>
      </p:sp>
      <p:sp>
        <p:nvSpPr>
          <p:cNvPr id="5" name="Text 3"/>
          <p:cNvSpPr/>
          <p:nvPr/>
        </p:nvSpPr>
        <p:spPr>
          <a:xfrm>
            <a:off x="960120" y="2148840"/>
            <a:ext cx="4663440" cy="365760"/>
          </a:xfrm>
          <a:prstGeom prst="rect">
            <a:avLst/>
          </a:prstGeom>
          <a:noFill/>
          <a:ln/>
        </p:spPr>
        <p:txBody>
          <a:bodyPr wrap="square" lIns="0" tIns="0" rIns="0" bIns="0" rtlCol="0" anchor="t"/>
          <a:lstStyle/>
          <a:p>
            <a:pPr indent="0" marL="0">
              <a:buNone/>
            </a:pPr>
            <a:r>
              <a:rPr lang="en-US" sz="1500" b="1" dirty="0">
                <a:solidFill>
                  <a:srgbClr val="25D366"/>
                </a:solidFill>
                <a:latin typeface="Calibri" pitchFamily="34" charset="0"/>
                <a:ea typeface="Calibri" pitchFamily="34" charset="-122"/>
                <a:cs typeface="Calibri" pitchFamily="34" charset="-120"/>
              </a:rPr>
              <a:t>Built and verified end to end</a:t>
            </a:r>
            <a:endParaRPr lang="en-US" sz="1500" dirty="0"/>
          </a:p>
        </p:txBody>
      </p:sp>
      <p:sp>
        <p:nvSpPr>
          <p:cNvPr id="6" name="Text 4"/>
          <p:cNvSpPr/>
          <p:nvPr/>
        </p:nvSpPr>
        <p:spPr>
          <a:xfrm>
            <a:off x="960120" y="2651760"/>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Customer ordering — discovery, live menu, portions, add-ons, cart, UPI and cash</a:t>
            </a:r>
            <a:endParaRPr lang="en-US" sz="1100" dirty="0"/>
          </a:p>
        </p:txBody>
      </p:sp>
      <p:sp>
        <p:nvSpPr>
          <p:cNvPr id="7" name="Text 5"/>
          <p:cNvSpPr/>
          <p:nvPr/>
        </p:nvSpPr>
        <p:spPr>
          <a:xfrm>
            <a:off x="960120" y="3273552"/>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Kitchen app — orders, menu, trading hours, delivery, ratings, billing</a:t>
            </a:r>
            <a:endParaRPr lang="en-US" sz="1100" dirty="0"/>
          </a:p>
        </p:txBody>
      </p:sp>
      <p:sp>
        <p:nvSpPr>
          <p:cNvPr id="8" name="Text 6"/>
          <p:cNvSpPr/>
          <p:nvPr/>
        </p:nvSpPr>
        <p:spPr>
          <a:xfrm>
            <a:off x="960120" y="3895344"/>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Rider handover — packet token, address, Maps, delivery OTP</a:t>
            </a:r>
            <a:endParaRPr lang="en-US" sz="1100" dirty="0"/>
          </a:p>
        </p:txBody>
      </p:sp>
      <p:sp>
        <p:nvSpPr>
          <p:cNvPr id="9" name="Text 7"/>
          <p:cNvSpPr/>
          <p:nvPr/>
        </p:nvSpPr>
        <p:spPr>
          <a:xfrm>
            <a:off x="960120" y="4517136"/>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Ratings tied to a real order, and a complaints and refunds flow</a:t>
            </a:r>
            <a:endParaRPr lang="en-US" sz="1100" dirty="0"/>
          </a:p>
        </p:txBody>
      </p:sp>
      <p:sp>
        <p:nvSpPr>
          <p:cNvPr id="10" name="Text 8"/>
          <p:cNvSpPr/>
          <p:nvPr/>
        </p:nvSpPr>
        <p:spPr>
          <a:xfrm>
            <a:off x="960120" y="5138928"/>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The messaging bridge, built against registered templates and ready to switch on</a:t>
            </a:r>
            <a:endParaRPr lang="en-US" sz="1100" dirty="0"/>
          </a:p>
        </p:txBody>
      </p:sp>
      <p:sp>
        <p:nvSpPr>
          <p:cNvPr id="11" name="Shape 9"/>
          <p:cNvSpPr/>
          <p:nvPr/>
        </p:nvSpPr>
        <p:spPr>
          <a:xfrm>
            <a:off x="6172200" y="1920240"/>
            <a:ext cx="5349240" cy="3840480"/>
          </a:xfrm>
          <a:prstGeom prst="roundRect">
            <a:avLst>
              <a:gd name="adj" fmla="val 2857"/>
            </a:avLst>
          </a:prstGeom>
          <a:solidFill>
            <a:srgbClr val="171723"/>
          </a:solidFill>
          <a:ln w="12700">
            <a:solidFill>
              <a:srgbClr val="2A2A3D"/>
            </a:solidFill>
            <a:prstDash val="solid"/>
          </a:ln>
        </p:spPr>
      </p:sp>
      <p:sp>
        <p:nvSpPr>
          <p:cNvPr id="12" name="Text 10"/>
          <p:cNvSpPr/>
          <p:nvPr/>
        </p:nvSpPr>
        <p:spPr>
          <a:xfrm>
            <a:off x="6492240" y="2148840"/>
            <a:ext cx="4663440" cy="365760"/>
          </a:xfrm>
          <a:prstGeom prst="rect">
            <a:avLst/>
          </a:prstGeom>
          <a:noFill/>
          <a:ln/>
        </p:spPr>
        <p:txBody>
          <a:bodyPr wrap="square" lIns="0" tIns="0" rIns="0" bIns="0" rtlCol="0" anchor="t"/>
          <a:lstStyle/>
          <a:p>
            <a:pPr indent="0" marL="0">
              <a:buNone/>
            </a:pPr>
            <a:r>
              <a:rPr lang="en-US" sz="1500" b="1" dirty="0">
                <a:solidFill>
                  <a:srgbClr val="F5A524"/>
                </a:solidFill>
                <a:latin typeface="Calibri" pitchFamily="34" charset="0"/>
                <a:ea typeface="Calibri" pitchFamily="34" charset="-122"/>
                <a:cs typeface="Calibri" pitchFamily="34" charset="-120"/>
              </a:rPr>
              <a:t>Honest gaps</a:t>
            </a:r>
            <a:endParaRPr lang="en-US" sz="1500" dirty="0"/>
          </a:p>
        </p:txBody>
      </p:sp>
      <p:sp>
        <p:nvSpPr>
          <p:cNvPr id="13" name="Text 11"/>
          <p:cNvSpPr/>
          <p:nvPr/>
        </p:nvSpPr>
        <p:spPr>
          <a:xfrm>
            <a:off x="6492240" y="2651760"/>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DLT registration applied for — awaiting carrier approval</a:t>
            </a:r>
            <a:endParaRPr lang="en-US" sz="1100" dirty="0"/>
          </a:p>
        </p:txBody>
      </p:sp>
      <p:sp>
        <p:nvSpPr>
          <p:cNvPr id="14" name="Text 12"/>
          <p:cNvSpPr/>
          <p:nvPr/>
        </p:nvSpPr>
        <p:spPr>
          <a:xfrm>
            <a:off x="6492240" y="3273552"/>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One pilot kitchen live: Ghar ka Khaana, Baner, Pune</a:t>
            </a:r>
            <a:endParaRPr lang="en-US" sz="1100" dirty="0"/>
          </a:p>
        </p:txBody>
      </p:sp>
      <p:sp>
        <p:nvSpPr>
          <p:cNvPr id="15" name="Text 13"/>
          <p:cNvSpPr/>
          <p:nvPr/>
        </p:nvSpPr>
        <p:spPr>
          <a:xfrm>
            <a:off x="6492240" y="3895344"/>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Rate limiting, before any public campaign</a:t>
            </a:r>
            <a:endParaRPr lang="en-US" sz="1100" dirty="0"/>
          </a:p>
        </p:txBody>
      </p:sp>
      <p:sp>
        <p:nvSpPr>
          <p:cNvPr id="16" name="Text 14"/>
          <p:cNvSpPr/>
          <p:nvPr/>
        </p:nvSpPr>
        <p:spPr>
          <a:xfrm>
            <a:off x="6492240" y="4517136"/>
            <a:ext cx="4709160" cy="566928"/>
          </a:xfrm>
          <a:prstGeom prst="rect">
            <a:avLst/>
          </a:prstGeom>
          <a:noFill/>
          <a:ln/>
        </p:spPr>
        <p:txBody>
          <a:bodyPr wrap="square" lIns="0" tIns="0" rIns="0" bIns="0" rtlCol="0" anchor="t"/>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   No revenue yet. We are pre-first-rupee and say so</a:t>
            </a:r>
            <a:endParaRPr lang="en-US" sz="1100" dirty="0"/>
          </a:p>
        </p:txBody>
      </p:sp>
      <p:sp>
        <p:nvSpPr>
          <p:cNvPr id="17" name="Text 15"/>
          <p:cNvSpPr/>
          <p:nvPr/>
        </p:nvSpPr>
        <p:spPr>
          <a:xfrm>
            <a:off x="640080" y="5897880"/>
            <a:ext cx="10881360" cy="457200"/>
          </a:xfrm>
          <a:prstGeom prst="rect">
            <a:avLst/>
          </a:prstGeom>
          <a:noFill/>
          <a:ln/>
        </p:spPr>
        <p:txBody>
          <a:bodyPr wrap="square" lIns="0" tIns="0" rIns="0" bIns="0" rtlCol="0" anchor="t"/>
          <a:lstStyle/>
          <a:p>
            <a:pPr indent="0" marL="0">
              <a:buNone/>
            </a:pPr>
            <a:r>
              <a:rPr lang="en-US" sz="1300" i="1" dirty="0">
                <a:solidFill>
                  <a:srgbClr val="9D87FF"/>
                </a:solidFill>
                <a:latin typeface="Calibri" pitchFamily="34" charset="0"/>
                <a:ea typeface="Calibri" pitchFamily="34" charset="-122"/>
                <a:cs typeface="Calibri" pitchFamily="34" charset="-120"/>
              </a:rPr>
              <a:t>A full order has been placed through the live system — texted in, matched by area, paid, delivered and rated. The product is real. The scale is not, yet.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How we expand.</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Deliberately sequenced. Each phase is funded by the one before it.</a:t>
            </a:r>
            <a:endParaRPr lang="en-US" sz="1550" dirty="0"/>
          </a:p>
        </p:txBody>
      </p:sp>
      <p:sp>
        <p:nvSpPr>
          <p:cNvPr id="4" name="Shape 2"/>
          <p:cNvSpPr/>
          <p:nvPr/>
        </p:nvSpPr>
        <p:spPr>
          <a:xfrm>
            <a:off x="640080" y="1920240"/>
            <a:ext cx="10881360" cy="749808"/>
          </a:xfrm>
          <a:prstGeom prst="roundRect">
            <a:avLst>
              <a:gd name="adj" fmla="val 14634"/>
            </a:avLst>
          </a:prstGeom>
          <a:solidFill>
            <a:srgbClr val="171723"/>
          </a:solidFill>
          <a:ln w="12700">
            <a:solidFill>
              <a:srgbClr val="2A2A3D"/>
            </a:solidFill>
            <a:prstDash val="solid"/>
          </a:ln>
        </p:spPr>
      </p:sp>
      <p:sp>
        <p:nvSpPr>
          <p:cNvPr id="5" name="Shape 3"/>
          <p:cNvSpPr/>
          <p:nvPr/>
        </p:nvSpPr>
        <p:spPr>
          <a:xfrm>
            <a:off x="914400" y="2103120"/>
            <a:ext cx="384048" cy="384048"/>
          </a:xfrm>
          <a:prstGeom prst="ellipse">
            <a:avLst/>
          </a:prstGeom>
          <a:solidFill>
            <a:srgbClr val="25D366"/>
          </a:solidFill>
          <a:ln w="12700">
            <a:solidFill>
              <a:srgbClr val="25D366"/>
            </a:solidFill>
            <a:prstDash val="solid"/>
          </a:ln>
        </p:spPr>
      </p:sp>
      <p:sp>
        <p:nvSpPr>
          <p:cNvPr id="6" name="Text 4"/>
          <p:cNvSpPr/>
          <p:nvPr/>
        </p:nvSpPr>
        <p:spPr>
          <a:xfrm>
            <a:off x="91440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08760" y="1920240"/>
            <a:ext cx="2834640" cy="749808"/>
          </a:xfrm>
          <a:prstGeom prst="rect">
            <a:avLst/>
          </a:prstGeom>
          <a:noFill/>
          <a:ln/>
        </p:spPr>
        <p:txBody>
          <a:bodyPr wrap="square" lIns="0" tIns="0" rIns="0" bIns="0" rtlCol="0" anchor="ctr"/>
          <a:lstStyle/>
          <a:p>
            <a:pPr indent="0" marL="0">
              <a:buNone/>
            </a:pPr>
            <a:r>
              <a:rPr lang="en-US" sz="1400" b="1" dirty="0">
                <a:solidFill>
                  <a:srgbClr val="F2F2F7"/>
                </a:solidFill>
                <a:latin typeface="Calibri" pitchFamily="34" charset="0"/>
                <a:ea typeface="Calibri" pitchFamily="34" charset="-122"/>
                <a:cs typeface="Calibri" pitchFamily="34" charset="-120"/>
              </a:rPr>
              <a:t>Cloud kitchens, Pune</a:t>
            </a:r>
            <a:endParaRPr lang="en-US" sz="1400" dirty="0"/>
          </a:p>
        </p:txBody>
      </p:sp>
      <p:sp>
        <p:nvSpPr>
          <p:cNvPr id="8" name="Text 6"/>
          <p:cNvSpPr/>
          <p:nvPr/>
        </p:nvSpPr>
        <p:spPr>
          <a:xfrm>
            <a:off x="4480560" y="1920240"/>
            <a:ext cx="6812280" cy="749808"/>
          </a:xfrm>
          <a:prstGeom prst="rect">
            <a:avLst/>
          </a:prstGeom>
          <a:noFill/>
          <a:ln/>
        </p:spPr>
        <p:txBody>
          <a:bodyPr wrap="square" lIns="0" tIns="0" rIns="0" bIns="0" rtlCol="0" anchor="ctr"/>
          <a:lstStyle/>
          <a:p>
            <a:pPr indent="0" marL="0">
              <a:lnSpc>
                <a:spcPts val="1450"/>
              </a:lnSpc>
              <a:buNone/>
            </a:pPr>
            <a:r>
              <a:rPr lang="en-US" sz="1100" dirty="0">
                <a:solidFill>
                  <a:srgbClr val="9A9AB4"/>
                </a:solidFill>
                <a:latin typeface="Calibri" pitchFamily="34" charset="0"/>
                <a:ea typeface="Calibri" pitchFamily="34" charset="-122"/>
                <a:cs typeface="Calibri" pitchFamily="34" charset="-120"/>
              </a:rPr>
              <a:t>Direct sales, locality by locality. Prove repeat ordering and a kitchen that renews without being asked.</a:t>
            </a:r>
            <a:endParaRPr lang="en-US" sz="1100" dirty="0"/>
          </a:p>
        </p:txBody>
      </p:sp>
      <p:sp>
        <p:nvSpPr>
          <p:cNvPr id="9" name="Shape 7"/>
          <p:cNvSpPr/>
          <p:nvPr/>
        </p:nvSpPr>
        <p:spPr>
          <a:xfrm>
            <a:off x="640080" y="2779776"/>
            <a:ext cx="10881360" cy="749808"/>
          </a:xfrm>
          <a:prstGeom prst="roundRect">
            <a:avLst>
              <a:gd name="adj" fmla="val 14634"/>
            </a:avLst>
          </a:prstGeom>
          <a:solidFill>
            <a:srgbClr val="171723"/>
          </a:solidFill>
          <a:ln w="12700">
            <a:solidFill>
              <a:srgbClr val="2A2A3D"/>
            </a:solidFill>
            <a:prstDash val="solid"/>
          </a:ln>
        </p:spPr>
      </p:sp>
      <p:sp>
        <p:nvSpPr>
          <p:cNvPr id="10" name="Shape 8"/>
          <p:cNvSpPr/>
          <p:nvPr/>
        </p:nvSpPr>
        <p:spPr>
          <a:xfrm>
            <a:off x="914400" y="2962656"/>
            <a:ext cx="384048" cy="384048"/>
          </a:xfrm>
          <a:prstGeom prst="ellipse">
            <a:avLst/>
          </a:prstGeom>
          <a:solidFill>
            <a:srgbClr val="7C5CFF"/>
          </a:solidFill>
          <a:ln w="12700">
            <a:solidFill>
              <a:srgbClr val="7C5CFF"/>
            </a:solidFill>
            <a:prstDash val="solid"/>
          </a:ln>
        </p:spPr>
      </p:sp>
      <p:sp>
        <p:nvSpPr>
          <p:cNvPr id="11" name="Text 9"/>
          <p:cNvSpPr/>
          <p:nvPr/>
        </p:nvSpPr>
        <p:spPr>
          <a:xfrm>
            <a:off x="91440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508760" y="2779776"/>
            <a:ext cx="2834640" cy="749808"/>
          </a:xfrm>
          <a:prstGeom prst="rect">
            <a:avLst/>
          </a:prstGeom>
          <a:noFill/>
          <a:ln/>
        </p:spPr>
        <p:txBody>
          <a:bodyPr wrap="square" lIns="0" tIns="0" rIns="0" bIns="0" rtlCol="0" anchor="ctr"/>
          <a:lstStyle/>
          <a:p>
            <a:pPr indent="0" marL="0">
              <a:buNone/>
            </a:pPr>
            <a:r>
              <a:rPr lang="en-US" sz="1400" b="1" dirty="0">
                <a:solidFill>
                  <a:srgbClr val="F2F2F7"/>
                </a:solidFill>
                <a:latin typeface="Calibri" pitchFamily="34" charset="0"/>
                <a:ea typeface="Calibri" pitchFamily="34" charset="-122"/>
                <a:cs typeface="Calibri" pitchFamily="34" charset="-120"/>
              </a:rPr>
              <a:t>The printed doorway</a:t>
            </a:r>
            <a:endParaRPr lang="en-US" sz="1400" dirty="0"/>
          </a:p>
        </p:txBody>
      </p:sp>
      <p:sp>
        <p:nvSpPr>
          <p:cNvPr id="13" name="Text 11"/>
          <p:cNvSpPr/>
          <p:nvPr/>
        </p:nvSpPr>
        <p:spPr>
          <a:xfrm>
            <a:off x="4480560" y="2779776"/>
            <a:ext cx="6812280" cy="749808"/>
          </a:xfrm>
          <a:prstGeom prst="rect">
            <a:avLst/>
          </a:prstGeom>
          <a:noFill/>
          <a:ln/>
        </p:spPr>
        <p:txBody>
          <a:bodyPr wrap="square" lIns="0" tIns="0" rIns="0" bIns="0" rtlCol="0" anchor="ctr"/>
          <a:lstStyle/>
          <a:p>
            <a:pPr indent="0" marL="0">
              <a:lnSpc>
                <a:spcPts val="1450"/>
              </a:lnSpc>
              <a:buNone/>
            </a:pPr>
            <a:r>
              <a:rPr lang="en-US" sz="1100" dirty="0">
                <a:solidFill>
                  <a:srgbClr val="9A9AB4"/>
                </a:solidFill>
                <a:latin typeface="Calibri" pitchFamily="34" charset="0"/>
                <a:ea typeface="Calibri" pitchFamily="34" charset="-122"/>
                <a:cs typeface="Calibri" pitchFamily="34" charset="-120"/>
              </a:rPr>
              <a:t>A QR code on the packaging, the flyer, the shutter. Every delivered meal becomes an invitation to order direct next time — paid for by the aggregator order that carried it.</a:t>
            </a:r>
            <a:endParaRPr lang="en-US" sz="1100" dirty="0"/>
          </a:p>
        </p:txBody>
      </p:sp>
      <p:sp>
        <p:nvSpPr>
          <p:cNvPr id="14" name="Shape 12"/>
          <p:cNvSpPr/>
          <p:nvPr/>
        </p:nvSpPr>
        <p:spPr>
          <a:xfrm>
            <a:off x="640080" y="3639312"/>
            <a:ext cx="10881360" cy="749808"/>
          </a:xfrm>
          <a:prstGeom prst="roundRect">
            <a:avLst>
              <a:gd name="adj" fmla="val 14634"/>
            </a:avLst>
          </a:prstGeom>
          <a:solidFill>
            <a:srgbClr val="171723"/>
          </a:solidFill>
          <a:ln w="12700">
            <a:solidFill>
              <a:srgbClr val="2A2A3D"/>
            </a:solidFill>
            <a:prstDash val="solid"/>
          </a:ln>
        </p:spPr>
      </p:sp>
      <p:sp>
        <p:nvSpPr>
          <p:cNvPr id="15" name="Shape 13"/>
          <p:cNvSpPr/>
          <p:nvPr/>
        </p:nvSpPr>
        <p:spPr>
          <a:xfrm>
            <a:off x="914400" y="3822192"/>
            <a:ext cx="384048" cy="384048"/>
          </a:xfrm>
          <a:prstGeom prst="ellipse">
            <a:avLst/>
          </a:prstGeom>
          <a:solidFill>
            <a:srgbClr val="9D87FF"/>
          </a:solidFill>
          <a:ln w="12700">
            <a:solidFill>
              <a:srgbClr val="9D87FF"/>
            </a:solidFill>
            <a:prstDash val="solid"/>
          </a:ln>
        </p:spPr>
      </p:sp>
      <p:sp>
        <p:nvSpPr>
          <p:cNvPr id="16" name="Text 14"/>
          <p:cNvSpPr/>
          <p:nvPr/>
        </p:nvSpPr>
        <p:spPr>
          <a:xfrm>
            <a:off x="914400"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08760" y="3639312"/>
            <a:ext cx="2834640" cy="749808"/>
          </a:xfrm>
          <a:prstGeom prst="rect">
            <a:avLst/>
          </a:prstGeom>
          <a:noFill/>
          <a:ln/>
        </p:spPr>
        <p:txBody>
          <a:bodyPr wrap="square" lIns="0" tIns="0" rIns="0" bIns="0" rtlCol="0" anchor="ctr"/>
          <a:lstStyle/>
          <a:p>
            <a:pPr indent="0" marL="0">
              <a:buNone/>
            </a:pPr>
            <a:r>
              <a:rPr lang="en-US" sz="1400" b="1" dirty="0">
                <a:solidFill>
                  <a:srgbClr val="F2F2F7"/>
                </a:solidFill>
                <a:latin typeface="Calibri" pitchFamily="34" charset="0"/>
                <a:ea typeface="Calibri" pitchFamily="34" charset="-122"/>
                <a:cs typeface="Calibri" pitchFamily="34" charset="-120"/>
              </a:rPr>
              <a:t>Standing orders</a:t>
            </a:r>
            <a:endParaRPr lang="en-US" sz="1400" dirty="0"/>
          </a:p>
        </p:txBody>
      </p:sp>
      <p:sp>
        <p:nvSpPr>
          <p:cNvPr id="18" name="Text 16"/>
          <p:cNvSpPr/>
          <p:nvPr/>
        </p:nvSpPr>
        <p:spPr>
          <a:xfrm>
            <a:off x="4480560" y="3639312"/>
            <a:ext cx="6812280" cy="749808"/>
          </a:xfrm>
          <a:prstGeom prst="rect">
            <a:avLst/>
          </a:prstGeom>
          <a:noFill/>
          <a:ln/>
        </p:spPr>
        <p:txBody>
          <a:bodyPr wrap="square" lIns="0" tIns="0" rIns="0" bIns="0" rtlCol="0" anchor="ctr"/>
          <a:lstStyle/>
          <a:p>
            <a:pPr indent="0" marL="0">
              <a:lnSpc>
                <a:spcPts val="1450"/>
              </a:lnSpc>
              <a:buNone/>
            </a:pPr>
            <a:r>
              <a:rPr lang="en-US" sz="1100" dirty="0">
                <a:solidFill>
                  <a:srgbClr val="9A9AB4"/>
                </a:solidFill>
                <a:latin typeface="Calibri" pitchFamily="34" charset="0"/>
                <a:ea typeface="Calibri" pitchFamily="34" charset="-122"/>
                <a:cs typeface="Calibri" pitchFamily="34" charset="-120"/>
              </a:rPr>
              <a:t>Monthly customer packages for scheduled meals — tiffin, daily lunch. Predictable demand for the kitchen, predictable revenue for us.</a:t>
            </a:r>
            <a:endParaRPr lang="en-US" sz="1100" dirty="0"/>
          </a:p>
        </p:txBody>
      </p:sp>
      <p:sp>
        <p:nvSpPr>
          <p:cNvPr id="19" name="Shape 17"/>
          <p:cNvSpPr/>
          <p:nvPr/>
        </p:nvSpPr>
        <p:spPr>
          <a:xfrm>
            <a:off x="640080" y="4498848"/>
            <a:ext cx="10881360" cy="749808"/>
          </a:xfrm>
          <a:prstGeom prst="roundRect">
            <a:avLst>
              <a:gd name="adj" fmla="val 14634"/>
            </a:avLst>
          </a:prstGeom>
          <a:solidFill>
            <a:srgbClr val="171723"/>
          </a:solidFill>
          <a:ln w="12700">
            <a:solidFill>
              <a:srgbClr val="2A2A3D"/>
            </a:solidFill>
            <a:prstDash val="solid"/>
          </a:ln>
        </p:spPr>
      </p:sp>
      <p:sp>
        <p:nvSpPr>
          <p:cNvPr id="20" name="Shape 18"/>
          <p:cNvSpPr/>
          <p:nvPr/>
        </p:nvSpPr>
        <p:spPr>
          <a:xfrm>
            <a:off x="914400" y="4681728"/>
            <a:ext cx="384048" cy="384048"/>
          </a:xfrm>
          <a:prstGeom prst="ellipse">
            <a:avLst/>
          </a:prstGeom>
          <a:solidFill>
            <a:srgbClr val="F5A524"/>
          </a:solidFill>
          <a:ln w="12700">
            <a:solidFill>
              <a:srgbClr val="F5A524"/>
            </a:solidFill>
            <a:prstDash val="solid"/>
          </a:ln>
        </p:spPr>
      </p:sp>
      <p:sp>
        <p:nvSpPr>
          <p:cNvPr id="21" name="Text 19"/>
          <p:cNvSpPr/>
          <p:nvPr/>
        </p:nvSpPr>
        <p:spPr>
          <a:xfrm>
            <a:off x="914400" y="4681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508760" y="4498848"/>
            <a:ext cx="2834640" cy="749808"/>
          </a:xfrm>
          <a:prstGeom prst="rect">
            <a:avLst/>
          </a:prstGeom>
          <a:noFill/>
          <a:ln/>
        </p:spPr>
        <p:txBody>
          <a:bodyPr wrap="square" lIns="0" tIns="0" rIns="0" bIns="0" rtlCol="0" anchor="ctr"/>
          <a:lstStyle/>
          <a:p>
            <a:pPr indent="0" marL="0">
              <a:buNone/>
            </a:pPr>
            <a:r>
              <a:rPr lang="en-US" sz="1400" b="1" dirty="0">
                <a:solidFill>
                  <a:srgbClr val="F2F2F7"/>
                </a:solidFill>
                <a:latin typeface="Calibri" pitchFamily="34" charset="0"/>
                <a:ea typeface="Calibri" pitchFamily="34" charset="-122"/>
                <a:cs typeface="Calibri" pitchFamily="34" charset="-120"/>
              </a:rPr>
              <a:t>Adjacent kitchens</a:t>
            </a:r>
            <a:endParaRPr lang="en-US" sz="1400" dirty="0"/>
          </a:p>
        </p:txBody>
      </p:sp>
      <p:sp>
        <p:nvSpPr>
          <p:cNvPr id="23" name="Text 21"/>
          <p:cNvSpPr/>
          <p:nvPr/>
        </p:nvSpPr>
        <p:spPr>
          <a:xfrm>
            <a:off x="4480560" y="4498848"/>
            <a:ext cx="6812280" cy="749808"/>
          </a:xfrm>
          <a:prstGeom prst="rect">
            <a:avLst/>
          </a:prstGeom>
          <a:noFill/>
          <a:ln/>
        </p:spPr>
        <p:txBody>
          <a:bodyPr wrap="square" lIns="0" tIns="0" rIns="0" bIns="0" rtlCol="0" anchor="ctr"/>
          <a:lstStyle/>
          <a:p>
            <a:pPr indent="0" marL="0">
              <a:lnSpc>
                <a:spcPts val="1450"/>
              </a:lnSpc>
              <a:buNone/>
            </a:pPr>
            <a:r>
              <a:rPr lang="en-US" sz="1100" dirty="0">
                <a:solidFill>
                  <a:srgbClr val="9A9AB4"/>
                </a:solidFill>
                <a:latin typeface="Calibri" pitchFamily="34" charset="0"/>
                <a:ea typeface="Calibri" pitchFamily="34" charset="-122"/>
                <a:cs typeface="Calibri" pitchFamily="34" charset="-120"/>
              </a:rPr>
              <a:t>Bakeries and cafés. Same rail, same billing, different vocabulary — already supported in the product.</a:t>
            </a:r>
            <a:endParaRPr lang="en-US" sz="1100" dirty="0"/>
          </a:p>
        </p:txBody>
      </p:sp>
      <p:sp>
        <p:nvSpPr>
          <p:cNvPr id="24" name="Shape 22"/>
          <p:cNvSpPr/>
          <p:nvPr/>
        </p:nvSpPr>
        <p:spPr>
          <a:xfrm>
            <a:off x="640080" y="5358384"/>
            <a:ext cx="10881360" cy="749808"/>
          </a:xfrm>
          <a:prstGeom prst="roundRect">
            <a:avLst>
              <a:gd name="adj" fmla="val 14634"/>
            </a:avLst>
          </a:prstGeom>
          <a:solidFill>
            <a:srgbClr val="171723"/>
          </a:solidFill>
          <a:ln w="12700">
            <a:solidFill>
              <a:srgbClr val="2A2A3D"/>
            </a:solidFill>
            <a:prstDash val="solid"/>
          </a:ln>
        </p:spPr>
      </p:sp>
      <p:sp>
        <p:nvSpPr>
          <p:cNvPr id="25" name="Shape 23"/>
          <p:cNvSpPr/>
          <p:nvPr/>
        </p:nvSpPr>
        <p:spPr>
          <a:xfrm>
            <a:off x="914400" y="5541264"/>
            <a:ext cx="384048" cy="384048"/>
          </a:xfrm>
          <a:prstGeom prst="ellipse">
            <a:avLst/>
          </a:prstGeom>
          <a:solidFill>
            <a:srgbClr val="F96167"/>
          </a:solidFill>
          <a:ln w="12700">
            <a:solidFill>
              <a:srgbClr val="F96167"/>
            </a:solidFill>
            <a:prstDash val="solid"/>
          </a:ln>
        </p:spPr>
      </p:sp>
      <p:sp>
        <p:nvSpPr>
          <p:cNvPr id="26" name="Text 24"/>
          <p:cNvSpPr/>
          <p:nvPr/>
        </p:nvSpPr>
        <p:spPr>
          <a:xfrm>
            <a:off x="914400" y="5541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508760" y="5358384"/>
            <a:ext cx="2834640" cy="749808"/>
          </a:xfrm>
          <a:prstGeom prst="rect">
            <a:avLst/>
          </a:prstGeom>
          <a:noFill/>
          <a:ln/>
        </p:spPr>
        <p:txBody>
          <a:bodyPr wrap="square" lIns="0" tIns="0" rIns="0" bIns="0" rtlCol="0" anchor="ctr"/>
          <a:lstStyle/>
          <a:p>
            <a:pPr indent="0" marL="0">
              <a:buNone/>
            </a:pPr>
            <a:r>
              <a:rPr lang="en-US" sz="1400" b="1" dirty="0">
                <a:solidFill>
                  <a:srgbClr val="F2F2F7"/>
                </a:solidFill>
                <a:latin typeface="Calibri" pitchFamily="34" charset="0"/>
                <a:ea typeface="Calibri" pitchFamily="34" charset="-122"/>
                <a:cs typeface="Calibri" pitchFamily="34" charset="-120"/>
              </a:rPr>
              <a:t>City by city</a:t>
            </a:r>
            <a:endParaRPr lang="en-US" sz="1400" dirty="0"/>
          </a:p>
        </p:txBody>
      </p:sp>
      <p:sp>
        <p:nvSpPr>
          <p:cNvPr id="28" name="Text 26"/>
          <p:cNvSpPr/>
          <p:nvPr/>
        </p:nvSpPr>
        <p:spPr>
          <a:xfrm>
            <a:off x="4480560" y="5358384"/>
            <a:ext cx="6812280" cy="749808"/>
          </a:xfrm>
          <a:prstGeom prst="rect">
            <a:avLst/>
          </a:prstGeom>
          <a:noFill/>
          <a:ln/>
        </p:spPr>
        <p:txBody>
          <a:bodyPr wrap="square" lIns="0" tIns="0" rIns="0" bIns="0" rtlCol="0" anchor="ctr"/>
          <a:lstStyle/>
          <a:p>
            <a:pPr indent="0" marL="0">
              <a:lnSpc>
                <a:spcPts val="1450"/>
              </a:lnSpc>
              <a:buNone/>
            </a:pPr>
            <a:r>
              <a:rPr lang="en-US" sz="1100" dirty="0">
                <a:solidFill>
                  <a:srgbClr val="9A9AB4"/>
                </a:solidFill>
                <a:latin typeface="Calibri" pitchFamily="34" charset="0"/>
                <a:ea typeface="Calibri" pitchFamily="34" charset="-122"/>
                <a:cs typeface="Calibri" pitchFamily="34" charset="-120"/>
              </a:rPr>
              <a:t>Repeat the locality playbook. Nothing about it is Pune-specific.</a:t>
            </a:r>
            <a:endParaRPr lang="en-US" sz="1100" dirty="0"/>
          </a:p>
        </p:txBody>
      </p:sp>
      <p:sp>
        <p:nvSpPr>
          <p:cNvPr id="29" name="Text 27"/>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Why this compounds locality by locality.</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The unit of growth is an area, not a city.</a:t>
            </a:r>
            <a:endParaRPr lang="en-US" sz="1550" dirty="0"/>
          </a:p>
        </p:txBody>
      </p:sp>
      <p:sp>
        <p:nvSpPr>
          <p:cNvPr id="4" name="Shape 2"/>
          <p:cNvSpPr/>
          <p:nvPr/>
        </p:nvSpPr>
        <p:spPr>
          <a:xfrm>
            <a:off x="640080" y="2057400"/>
            <a:ext cx="2029968" cy="2057400"/>
          </a:xfrm>
          <a:prstGeom prst="roundRect">
            <a:avLst>
              <a:gd name="adj" fmla="val 5405"/>
            </a:avLst>
          </a:prstGeom>
          <a:solidFill>
            <a:srgbClr val="171723"/>
          </a:solidFill>
          <a:ln w="12700">
            <a:solidFill>
              <a:srgbClr val="2A2A3D"/>
            </a:solidFill>
            <a:prstDash val="solid"/>
          </a:ln>
        </p:spPr>
      </p:sp>
      <p:sp>
        <p:nvSpPr>
          <p:cNvPr id="5" name="Text 3"/>
          <p:cNvSpPr/>
          <p:nvPr/>
        </p:nvSpPr>
        <p:spPr>
          <a:xfrm>
            <a:off x="914400" y="2240280"/>
            <a:ext cx="1554480" cy="384048"/>
          </a:xfrm>
          <a:prstGeom prst="rect">
            <a:avLst/>
          </a:prstGeom>
          <a:noFill/>
          <a:ln/>
        </p:spPr>
        <p:txBody>
          <a:bodyPr wrap="square" lIns="0" tIns="0" rIns="0" bIns="0" rtlCol="0" anchor="t"/>
          <a:lstStyle/>
          <a:p>
            <a:pPr indent="0" marL="0">
              <a:buNone/>
            </a:pPr>
            <a:r>
              <a:rPr lang="en-US" sz="1300" b="1" dirty="0">
                <a:solidFill>
                  <a:srgbClr val="9D87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14400" y="2633472"/>
            <a:ext cx="1572768" cy="658368"/>
          </a:xfrm>
          <a:prstGeom prst="rect">
            <a:avLst/>
          </a:prstGeom>
          <a:noFill/>
          <a:ln/>
        </p:spPr>
        <p:txBody>
          <a:bodyPr wrap="square" lIns="0" tIns="0" rIns="0" bIns="0" rtlCol="0" anchor="t"/>
          <a:lstStyle/>
          <a:p>
            <a:pPr indent="0" marL="0">
              <a:lnSpc>
                <a:spcPts val="1600"/>
              </a:lnSpc>
              <a:buNone/>
            </a:pPr>
            <a:r>
              <a:rPr lang="en-US" sz="1250" b="1" dirty="0">
                <a:solidFill>
                  <a:srgbClr val="F2F2F7"/>
                </a:solidFill>
                <a:latin typeface="Calibri" pitchFamily="34" charset="0"/>
                <a:ea typeface="Calibri" pitchFamily="34" charset="-122"/>
                <a:cs typeface="Calibri" pitchFamily="34" charset="-120"/>
              </a:rPr>
              <a:t>A kitchen joins</a:t>
            </a:r>
            <a:endParaRPr lang="en-US" sz="1250" dirty="0"/>
          </a:p>
        </p:txBody>
      </p:sp>
      <p:sp>
        <p:nvSpPr>
          <p:cNvPr id="7" name="Text 5"/>
          <p:cNvSpPr/>
          <p:nvPr/>
        </p:nvSpPr>
        <p:spPr>
          <a:xfrm>
            <a:off x="914400" y="3310128"/>
            <a:ext cx="1572768" cy="731520"/>
          </a:xfrm>
          <a:prstGeom prst="rect">
            <a:avLst/>
          </a:prstGeom>
          <a:noFill/>
          <a:ln/>
        </p:spPr>
        <p:txBody>
          <a:bodyPr wrap="square" lIns="0" tIns="0" rIns="0" bIns="0" rtlCol="0" anchor="t"/>
          <a:lstStyle/>
          <a:p>
            <a:pPr indent="0" marL="0">
              <a:lnSpc>
                <a:spcPts val="1300"/>
              </a:lnSpc>
              <a:buNone/>
            </a:pPr>
            <a:r>
              <a:rPr lang="en-US" sz="1000" dirty="0">
                <a:solidFill>
                  <a:srgbClr val="9A9AB4"/>
                </a:solidFill>
                <a:latin typeface="Calibri" pitchFamily="34" charset="0"/>
                <a:ea typeface="Calibri" pitchFamily="34" charset="-122"/>
                <a:cs typeface="Calibri" pitchFamily="34" charset="-120"/>
              </a:rPr>
              <a:t>Its own customers get a direct way to order.</a:t>
            </a:r>
            <a:endParaRPr lang="en-US" sz="1000" dirty="0"/>
          </a:p>
        </p:txBody>
      </p:sp>
      <p:sp>
        <p:nvSpPr>
          <p:cNvPr id="8" name="Text 6"/>
          <p:cNvSpPr/>
          <p:nvPr/>
        </p:nvSpPr>
        <p:spPr>
          <a:xfrm>
            <a:off x="2615184" y="2834640"/>
            <a:ext cx="274320" cy="365760"/>
          </a:xfrm>
          <a:prstGeom prst="rect">
            <a:avLst/>
          </a:prstGeom>
          <a:noFill/>
          <a:ln/>
        </p:spPr>
        <p:txBody>
          <a:bodyPr wrap="square" lIns="0" tIns="0" rIns="0" bIns="0" rtlCol="0" anchor="ctr"/>
          <a:lstStyle/>
          <a:p>
            <a:pPr algn="ctr" indent="0" marL="0">
              <a:buNone/>
            </a:pPr>
            <a:r>
              <a:rPr lang="en-US" sz="1600" dirty="0">
                <a:solidFill>
                  <a:srgbClr val="63637D"/>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852928" y="2057400"/>
            <a:ext cx="2029968" cy="2057400"/>
          </a:xfrm>
          <a:prstGeom prst="roundRect">
            <a:avLst>
              <a:gd name="adj" fmla="val 5405"/>
            </a:avLst>
          </a:prstGeom>
          <a:solidFill>
            <a:srgbClr val="171723"/>
          </a:solidFill>
          <a:ln w="12700">
            <a:solidFill>
              <a:srgbClr val="2A2A3D"/>
            </a:solidFill>
            <a:prstDash val="solid"/>
          </a:ln>
        </p:spPr>
      </p:sp>
      <p:sp>
        <p:nvSpPr>
          <p:cNvPr id="10" name="Text 8"/>
          <p:cNvSpPr/>
          <p:nvPr/>
        </p:nvSpPr>
        <p:spPr>
          <a:xfrm>
            <a:off x="3127248" y="2240280"/>
            <a:ext cx="1554480" cy="384048"/>
          </a:xfrm>
          <a:prstGeom prst="rect">
            <a:avLst/>
          </a:prstGeom>
          <a:noFill/>
          <a:ln/>
        </p:spPr>
        <p:txBody>
          <a:bodyPr wrap="square" lIns="0" tIns="0" rIns="0" bIns="0" rtlCol="0" anchor="t"/>
          <a:lstStyle/>
          <a:p>
            <a:pPr indent="0" marL="0">
              <a:buNone/>
            </a:pPr>
            <a:r>
              <a:rPr lang="en-US" sz="1300" b="1" dirty="0">
                <a:solidFill>
                  <a:srgbClr val="9D87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3127248" y="2633472"/>
            <a:ext cx="1572768" cy="658368"/>
          </a:xfrm>
          <a:prstGeom prst="rect">
            <a:avLst/>
          </a:prstGeom>
          <a:noFill/>
          <a:ln/>
        </p:spPr>
        <p:txBody>
          <a:bodyPr wrap="square" lIns="0" tIns="0" rIns="0" bIns="0" rtlCol="0" anchor="t"/>
          <a:lstStyle/>
          <a:p>
            <a:pPr indent="0" marL="0">
              <a:lnSpc>
                <a:spcPts val="1600"/>
              </a:lnSpc>
              <a:buNone/>
            </a:pPr>
            <a:r>
              <a:rPr lang="en-US" sz="1250" b="1" dirty="0">
                <a:solidFill>
                  <a:srgbClr val="F2F2F7"/>
                </a:solidFill>
                <a:latin typeface="Calibri" pitchFamily="34" charset="0"/>
                <a:ea typeface="Calibri" pitchFamily="34" charset="-122"/>
                <a:cs typeface="Calibri" pitchFamily="34" charset="-120"/>
              </a:rPr>
              <a:t>Those customers stay</a:t>
            </a:r>
            <a:endParaRPr lang="en-US" sz="1250" dirty="0"/>
          </a:p>
        </p:txBody>
      </p:sp>
      <p:sp>
        <p:nvSpPr>
          <p:cNvPr id="12" name="Text 10"/>
          <p:cNvSpPr/>
          <p:nvPr/>
        </p:nvSpPr>
        <p:spPr>
          <a:xfrm>
            <a:off x="3127248" y="3310128"/>
            <a:ext cx="1572768" cy="731520"/>
          </a:xfrm>
          <a:prstGeom prst="rect">
            <a:avLst/>
          </a:prstGeom>
          <a:noFill/>
          <a:ln/>
        </p:spPr>
        <p:txBody>
          <a:bodyPr wrap="square" lIns="0" tIns="0" rIns="0" bIns="0" rtlCol="0" anchor="t"/>
          <a:lstStyle/>
          <a:p>
            <a:pPr indent="0" marL="0">
              <a:lnSpc>
                <a:spcPts val="1300"/>
              </a:lnSpc>
              <a:buNone/>
            </a:pPr>
            <a:r>
              <a:rPr lang="en-US" sz="1000" dirty="0">
                <a:solidFill>
                  <a:srgbClr val="9A9AB4"/>
                </a:solidFill>
                <a:latin typeface="Calibri" pitchFamily="34" charset="0"/>
                <a:ea typeface="Calibri" pitchFamily="34" charset="-122"/>
                <a:cs typeface="Calibri" pitchFamily="34" charset="-120"/>
              </a:rPr>
              <a:t>Their details are saved, so re-ordering is two taps.</a:t>
            </a:r>
            <a:endParaRPr lang="en-US" sz="1000" dirty="0"/>
          </a:p>
        </p:txBody>
      </p:sp>
      <p:sp>
        <p:nvSpPr>
          <p:cNvPr id="13" name="Text 11"/>
          <p:cNvSpPr/>
          <p:nvPr/>
        </p:nvSpPr>
        <p:spPr>
          <a:xfrm>
            <a:off x="4828032" y="2834640"/>
            <a:ext cx="274320" cy="365760"/>
          </a:xfrm>
          <a:prstGeom prst="rect">
            <a:avLst/>
          </a:prstGeom>
          <a:noFill/>
          <a:ln/>
        </p:spPr>
        <p:txBody>
          <a:bodyPr wrap="square" lIns="0" tIns="0" rIns="0" bIns="0" rtlCol="0" anchor="ctr"/>
          <a:lstStyle/>
          <a:p>
            <a:pPr algn="ctr" indent="0" marL="0">
              <a:buNone/>
            </a:pPr>
            <a:r>
              <a:rPr lang="en-US" sz="1600" dirty="0">
                <a:solidFill>
                  <a:srgbClr val="63637D"/>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5065776" y="2057400"/>
            <a:ext cx="2029968" cy="2057400"/>
          </a:xfrm>
          <a:prstGeom prst="roundRect">
            <a:avLst>
              <a:gd name="adj" fmla="val 5405"/>
            </a:avLst>
          </a:prstGeom>
          <a:solidFill>
            <a:srgbClr val="171723"/>
          </a:solidFill>
          <a:ln w="12700">
            <a:solidFill>
              <a:srgbClr val="2A2A3D"/>
            </a:solidFill>
            <a:prstDash val="solid"/>
          </a:ln>
        </p:spPr>
      </p:sp>
      <p:sp>
        <p:nvSpPr>
          <p:cNvPr id="15" name="Text 13"/>
          <p:cNvSpPr/>
          <p:nvPr/>
        </p:nvSpPr>
        <p:spPr>
          <a:xfrm>
            <a:off x="5340096" y="2240280"/>
            <a:ext cx="1554480" cy="384048"/>
          </a:xfrm>
          <a:prstGeom prst="rect">
            <a:avLst/>
          </a:prstGeom>
          <a:noFill/>
          <a:ln/>
        </p:spPr>
        <p:txBody>
          <a:bodyPr wrap="square" lIns="0" tIns="0" rIns="0" bIns="0" rtlCol="0" anchor="t"/>
          <a:lstStyle/>
          <a:p>
            <a:pPr indent="0" marL="0">
              <a:buNone/>
            </a:pPr>
            <a:r>
              <a:rPr lang="en-US" sz="1300" b="1" dirty="0">
                <a:solidFill>
                  <a:srgbClr val="9D87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5340096" y="2633472"/>
            <a:ext cx="1572768" cy="658368"/>
          </a:xfrm>
          <a:prstGeom prst="rect">
            <a:avLst/>
          </a:prstGeom>
          <a:noFill/>
          <a:ln/>
        </p:spPr>
        <p:txBody>
          <a:bodyPr wrap="square" lIns="0" tIns="0" rIns="0" bIns="0" rtlCol="0" anchor="t"/>
          <a:lstStyle/>
          <a:p>
            <a:pPr indent="0" marL="0">
              <a:lnSpc>
                <a:spcPts val="1600"/>
              </a:lnSpc>
              <a:buNone/>
            </a:pPr>
            <a:r>
              <a:rPr lang="en-US" sz="1250" b="1" dirty="0">
                <a:solidFill>
                  <a:srgbClr val="F2F2F7"/>
                </a:solidFill>
                <a:latin typeface="Calibri" pitchFamily="34" charset="0"/>
                <a:ea typeface="Calibri" pitchFamily="34" charset="-122"/>
                <a:cs typeface="Calibri" pitchFamily="34" charset="-120"/>
              </a:rPr>
              <a:t>They search their area</a:t>
            </a:r>
            <a:endParaRPr lang="en-US" sz="1250" dirty="0"/>
          </a:p>
        </p:txBody>
      </p:sp>
      <p:sp>
        <p:nvSpPr>
          <p:cNvPr id="17" name="Text 15"/>
          <p:cNvSpPr/>
          <p:nvPr/>
        </p:nvSpPr>
        <p:spPr>
          <a:xfrm>
            <a:off x="5340096" y="3310128"/>
            <a:ext cx="1572768" cy="731520"/>
          </a:xfrm>
          <a:prstGeom prst="rect">
            <a:avLst/>
          </a:prstGeom>
          <a:noFill/>
          <a:ln/>
        </p:spPr>
        <p:txBody>
          <a:bodyPr wrap="square" lIns="0" tIns="0" rIns="0" bIns="0" rtlCol="0" anchor="t"/>
          <a:lstStyle/>
          <a:p>
            <a:pPr indent="0" marL="0">
              <a:lnSpc>
                <a:spcPts val="1300"/>
              </a:lnSpc>
              <a:buNone/>
            </a:pPr>
            <a:r>
              <a:rPr lang="en-US" sz="1000" dirty="0">
                <a:solidFill>
                  <a:srgbClr val="9A9AB4"/>
                </a:solidFill>
                <a:latin typeface="Calibri" pitchFamily="34" charset="0"/>
                <a:ea typeface="Calibri" pitchFamily="34" charset="-122"/>
                <a:cs typeface="Calibri" pitchFamily="34" charset="-120"/>
              </a:rPr>
              <a:t>And now see the other kitchens nearby.</a:t>
            </a:r>
            <a:endParaRPr lang="en-US" sz="1000" dirty="0"/>
          </a:p>
        </p:txBody>
      </p:sp>
      <p:sp>
        <p:nvSpPr>
          <p:cNvPr id="18" name="Text 16"/>
          <p:cNvSpPr/>
          <p:nvPr/>
        </p:nvSpPr>
        <p:spPr>
          <a:xfrm>
            <a:off x="7040880" y="2834640"/>
            <a:ext cx="274320" cy="365760"/>
          </a:xfrm>
          <a:prstGeom prst="rect">
            <a:avLst/>
          </a:prstGeom>
          <a:noFill/>
          <a:ln/>
        </p:spPr>
        <p:txBody>
          <a:bodyPr wrap="square" lIns="0" tIns="0" rIns="0" bIns="0" rtlCol="0" anchor="ctr"/>
          <a:lstStyle/>
          <a:p>
            <a:pPr algn="ctr" indent="0" marL="0">
              <a:buNone/>
            </a:pPr>
            <a:r>
              <a:rPr lang="en-US" sz="1600" dirty="0">
                <a:solidFill>
                  <a:srgbClr val="63637D"/>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7278624" y="2057400"/>
            <a:ext cx="2029968" cy="2057400"/>
          </a:xfrm>
          <a:prstGeom prst="roundRect">
            <a:avLst>
              <a:gd name="adj" fmla="val 5405"/>
            </a:avLst>
          </a:prstGeom>
          <a:solidFill>
            <a:srgbClr val="171723"/>
          </a:solidFill>
          <a:ln w="12700">
            <a:solidFill>
              <a:srgbClr val="2A2A3D"/>
            </a:solidFill>
            <a:prstDash val="solid"/>
          </a:ln>
        </p:spPr>
      </p:sp>
      <p:sp>
        <p:nvSpPr>
          <p:cNvPr id="20" name="Text 18"/>
          <p:cNvSpPr/>
          <p:nvPr/>
        </p:nvSpPr>
        <p:spPr>
          <a:xfrm>
            <a:off x="7552944" y="2240280"/>
            <a:ext cx="1554480" cy="384048"/>
          </a:xfrm>
          <a:prstGeom prst="rect">
            <a:avLst/>
          </a:prstGeom>
          <a:noFill/>
          <a:ln/>
        </p:spPr>
        <p:txBody>
          <a:bodyPr wrap="square" lIns="0" tIns="0" rIns="0" bIns="0" rtlCol="0" anchor="t"/>
          <a:lstStyle/>
          <a:p>
            <a:pPr indent="0" marL="0">
              <a:buNone/>
            </a:pPr>
            <a:r>
              <a:rPr lang="en-US" sz="1300" b="1" dirty="0">
                <a:solidFill>
                  <a:srgbClr val="9D87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552944" y="2633472"/>
            <a:ext cx="1572768" cy="658368"/>
          </a:xfrm>
          <a:prstGeom prst="rect">
            <a:avLst/>
          </a:prstGeom>
          <a:noFill/>
          <a:ln/>
        </p:spPr>
        <p:txBody>
          <a:bodyPr wrap="square" lIns="0" tIns="0" rIns="0" bIns="0" rtlCol="0" anchor="t"/>
          <a:lstStyle/>
          <a:p>
            <a:pPr indent="0" marL="0">
              <a:lnSpc>
                <a:spcPts val="1600"/>
              </a:lnSpc>
              <a:buNone/>
            </a:pPr>
            <a:r>
              <a:rPr lang="en-US" sz="1250" b="1" dirty="0">
                <a:solidFill>
                  <a:srgbClr val="F2F2F7"/>
                </a:solidFill>
                <a:latin typeface="Calibri" pitchFamily="34" charset="0"/>
                <a:ea typeface="Calibri" pitchFamily="34" charset="-122"/>
                <a:cs typeface="Calibri" pitchFamily="34" charset="-120"/>
              </a:rPr>
              <a:t>Those kitchens get orders</a:t>
            </a:r>
            <a:endParaRPr lang="en-US" sz="1250" dirty="0"/>
          </a:p>
        </p:txBody>
      </p:sp>
      <p:sp>
        <p:nvSpPr>
          <p:cNvPr id="22" name="Text 20"/>
          <p:cNvSpPr/>
          <p:nvPr/>
        </p:nvSpPr>
        <p:spPr>
          <a:xfrm>
            <a:off x="7552944" y="3310128"/>
            <a:ext cx="1572768" cy="731520"/>
          </a:xfrm>
          <a:prstGeom prst="rect">
            <a:avLst/>
          </a:prstGeom>
          <a:noFill/>
          <a:ln/>
        </p:spPr>
        <p:txBody>
          <a:bodyPr wrap="square" lIns="0" tIns="0" rIns="0" bIns="0" rtlCol="0" anchor="t"/>
          <a:lstStyle/>
          <a:p>
            <a:pPr indent="0" marL="0">
              <a:lnSpc>
                <a:spcPts val="1300"/>
              </a:lnSpc>
              <a:buNone/>
            </a:pPr>
            <a:r>
              <a:rPr lang="en-US" sz="1000" dirty="0">
                <a:solidFill>
                  <a:srgbClr val="9A9AB4"/>
                </a:solidFill>
                <a:latin typeface="Calibri" pitchFamily="34" charset="0"/>
                <a:ea typeface="Calibri" pitchFamily="34" charset="-122"/>
                <a:cs typeface="Calibri" pitchFamily="34" charset="-120"/>
              </a:rPr>
              <a:t>From customers they did not have to acquire.</a:t>
            </a:r>
            <a:endParaRPr lang="en-US" sz="1000" dirty="0"/>
          </a:p>
        </p:txBody>
      </p:sp>
      <p:sp>
        <p:nvSpPr>
          <p:cNvPr id="23" name="Text 21"/>
          <p:cNvSpPr/>
          <p:nvPr/>
        </p:nvSpPr>
        <p:spPr>
          <a:xfrm>
            <a:off x="9253728" y="2834640"/>
            <a:ext cx="274320" cy="365760"/>
          </a:xfrm>
          <a:prstGeom prst="rect">
            <a:avLst/>
          </a:prstGeom>
          <a:noFill/>
          <a:ln/>
        </p:spPr>
        <p:txBody>
          <a:bodyPr wrap="square" lIns="0" tIns="0" rIns="0" bIns="0" rtlCol="0" anchor="ctr"/>
          <a:lstStyle/>
          <a:p>
            <a:pPr algn="ctr" indent="0" marL="0">
              <a:buNone/>
            </a:pPr>
            <a:r>
              <a:rPr lang="en-US" sz="1600" dirty="0">
                <a:solidFill>
                  <a:srgbClr val="63637D"/>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9491472" y="2057400"/>
            <a:ext cx="2029968" cy="2057400"/>
          </a:xfrm>
          <a:prstGeom prst="roundRect">
            <a:avLst>
              <a:gd name="adj" fmla="val 5405"/>
            </a:avLst>
          </a:prstGeom>
          <a:solidFill>
            <a:srgbClr val="171723"/>
          </a:solidFill>
          <a:ln w="12700">
            <a:solidFill>
              <a:srgbClr val="2A2A3D"/>
            </a:solidFill>
            <a:prstDash val="solid"/>
          </a:ln>
        </p:spPr>
      </p:sp>
      <p:sp>
        <p:nvSpPr>
          <p:cNvPr id="25" name="Text 23"/>
          <p:cNvSpPr/>
          <p:nvPr/>
        </p:nvSpPr>
        <p:spPr>
          <a:xfrm>
            <a:off x="9765792" y="2240280"/>
            <a:ext cx="1554480" cy="384048"/>
          </a:xfrm>
          <a:prstGeom prst="rect">
            <a:avLst/>
          </a:prstGeom>
          <a:noFill/>
          <a:ln/>
        </p:spPr>
        <p:txBody>
          <a:bodyPr wrap="square" lIns="0" tIns="0" rIns="0" bIns="0" rtlCol="0" anchor="t"/>
          <a:lstStyle/>
          <a:p>
            <a:pPr indent="0" marL="0">
              <a:buNone/>
            </a:pPr>
            <a:r>
              <a:rPr lang="en-US" sz="1300" b="1" dirty="0">
                <a:solidFill>
                  <a:srgbClr val="9D87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9765792" y="2633472"/>
            <a:ext cx="1572768" cy="658368"/>
          </a:xfrm>
          <a:prstGeom prst="rect">
            <a:avLst/>
          </a:prstGeom>
          <a:noFill/>
          <a:ln/>
        </p:spPr>
        <p:txBody>
          <a:bodyPr wrap="square" lIns="0" tIns="0" rIns="0" bIns="0" rtlCol="0" anchor="t"/>
          <a:lstStyle/>
          <a:p>
            <a:pPr indent="0" marL="0">
              <a:lnSpc>
                <a:spcPts val="1600"/>
              </a:lnSpc>
              <a:buNone/>
            </a:pPr>
            <a:r>
              <a:rPr lang="en-US" sz="1250" b="1" dirty="0">
                <a:solidFill>
                  <a:srgbClr val="F2F2F7"/>
                </a:solidFill>
                <a:latin typeface="Calibri" pitchFamily="34" charset="0"/>
                <a:ea typeface="Calibri" pitchFamily="34" charset="-122"/>
                <a:cs typeface="Calibri" pitchFamily="34" charset="-120"/>
              </a:rPr>
              <a:t>So more kitchens join</a:t>
            </a:r>
            <a:endParaRPr lang="en-US" sz="1250" dirty="0"/>
          </a:p>
        </p:txBody>
      </p:sp>
      <p:sp>
        <p:nvSpPr>
          <p:cNvPr id="27" name="Text 25"/>
          <p:cNvSpPr/>
          <p:nvPr/>
        </p:nvSpPr>
        <p:spPr>
          <a:xfrm>
            <a:off x="9765792" y="3310128"/>
            <a:ext cx="1572768" cy="731520"/>
          </a:xfrm>
          <a:prstGeom prst="rect">
            <a:avLst/>
          </a:prstGeom>
          <a:noFill/>
          <a:ln/>
        </p:spPr>
        <p:txBody>
          <a:bodyPr wrap="square" lIns="0" tIns="0" rIns="0" bIns="0" rtlCol="0" anchor="t"/>
          <a:lstStyle/>
          <a:p>
            <a:pPr indent="0" marL="0">
              <a:lnSpc>
                <a:spcPts val="1300"/>
              </a:lnSpc>
              <a:buNone/>
            </a:pPr>
            <a:r>
              <a:rPr lang="en-US" sz="1000" dirty="0">
                <a:solidFill>
                  <a:srgbClr val="9A9AB4"/>
                </a:solidFill>
                <a:latin typeface="Calibri" pitchFamily="34" charset="0"/>
                <a:ea typeface="Calibri" pitchFamily="34" charset="-122"/>
                <a:cs typeface="Calibri" pitchFamily="34" charset="-120"/>
              </a:rPr>
              <a:t>Because the demand is already standing there.</a:t>
            </a:r>
            <a:endParaRPr lang="en-US" sz="1000" dirty="0"/>
          </a:p>
        </p:txBody>
      </p:sp>
      <p:sp>
        <p:nvSpPr>
          <p:cNvPr id="28" name="Shape 26"/>
          <p:cNvSpPr/>
          <p:nvPr/>
        </p:nvSpPr>
        <p:spPr>
          <a:xfrm>
            <a:off x="640080" y="4434840"/>
            <a:ext cx="10881360" cy="1508760"/>
          </a:xfrm>
          <a:prstGeom prst="roundRect">
            <a:avLst>
              <a:gd name="adj" fmla="val 7273"/>
            </a:avLst>
          </a:prstGeom>
          <a:solidFill>
            <a:srgbClr val="1C1C2B"/>
          </a:solidFill>
          <a:ln w="12700">
            <a:solidFill>
              <a:srgbClr val="2A2A3D"/>
            </a:solidFill>
            <a:prstDash val="solid"/>
          </a:ln>
        </p:spPr>
      </p:sp>
      <p:sp>
        <p:nvSpPr>
          <p:cNvPr id="29" name="Text 27"/>
          <p:cNvSpPr/>
          <p:nvPr/>
        </p:nvSpPr>
        <p:spPr>
          <a:xfrm>
            <a:off x="960120" y="4434840"/>
            <a:ext cx="10241280" cy="1508760"/>
          </a:xfrm>
          <a:prstGeom prst="rect">
            <a:avLst/>
          </a:prstGeom>
          <a:noFill/>
          <a:ln/>
        </p:spPr>
        <p:txBody>
          <a:bodyPr wrap="square" lIns="0" tIns="0" rIns="0" bIns="0" rtlCol="0" anchor="ctr"/>
          <a:lstStyle/>
          <a:p>
            <a:pPr indent="0" marL="0">
              <a:lnSpc>
                <a:spcPts val="1700"/>
              </a:lnSpc>
              <a:buNone/>
            </a:pPr>
            <a:r>
              <a:rPr lang="en-US" sz="1200" b="1" dirty="0">
                <a:solidFill>
                  <a:srgbClr val="F2F2F7"/>
                </a:solidFill>
                <a:latin typeface="Calibri" pitchFamily="34" charset="0"/>
                <a:ea typeface="Calibri" pitchFamily="34" charset="-122"/>
                <a:cs typeface="Calibri" pitchFamily="34" charset="-120"/>
              </a:rPr>
              <a:t>Ten kitchens in one locality beats a hundred spread across a city.  </a:t>
            </a:r>
            <a:pPr indent="0" marL="0">
              <a:lnSpc>
                <a:spcPts val="1700"/>
              </a:lnSpc>
              <a:buNone/>
            </a:pPr>
            <a:r>
              <a:rPr lang="en-US" sz="1200" dirty="0">
                <a:solidFill>
                  <a:srgbClr val="9A9AB4"/>
                </a:solidFill>
                <a:latin typeface="Calibri" pitchFamily="34" charset="0"/>
                <a:ea typeface="Calibri" pitchFamily="34" charset="-122"/>
                <a:cs typeface="Calibri" pitchFamily="34" charset="-120"/>
              </a:rPr>
              <a:t>A customer in Baner does not care that we have kitchens in Kothrud. Density in their own area is the only thing that makes the list worth opening — which is why we match on locality rather than a radius drawn on a map, and why we sell street by street rather than spreading thin.</a:t>
            </a:r>
            <a:endParaRPr lang="en-US" sz="1200" dirty="0"/>
          </a:p>
        </p:txBody>
      </p:sp>
      <p:sp>
        <p:nvSpPr>
          <p:cNvPr id="30" name="Text 28"/>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What the model is worth, built from the bottom up.</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Our own arithmetic, not a market report. Every input is challengeable.</a:t>
            </a:r>
            <a:endParaRPr lang="en-US" sz="1550" dirty="0"/>
          </a:p>
        </p:txBody>
      </p:sp>
      <p:sp>
        <p:nvSpPr>
          <p:cNvPr id="4" name="Shape 2"/>
          <p:cNvSpPr/>
          <p:nvPr/>
        </p:nvSpPr>
        <p:spPr>
          <a:xfrm>
            <a:off x="640080" y="1920240"/>
            <a:ext cx="3429000" cy="2834640"/>
          </a:xfrm>
          <a:prstGeom prst="roundRect">
            <a:avLst>
              <a:gd name="adj" fmla="val 3871"/>
            </a:avLst>
          </a:prstGeom>
          <a:solidFill>
            <a:srgbClr val="171723"/>
          </a:solidFill>
          <a:ln w="12700">
            <a:solidFill>
              <a:srgbClr val="2A2A3D"/>
            </a:solidFill>
            <a:prstDash val="solid"/>
          </a:ln>
        </p:spPr>
      </p:sp>
      <p:sp>
        <p:nvSpPr>
          <p:cNvPr id="5" name="Text 3"/>
          <p:cNvSpPr/>
          <p:nvPr/>
        </p:nvSpPr>
        <p:spPr>
          <a:xfrm>
            <a:off x="1005840" y="2148840"/>
            <a:ext cx="2743200" cy="365760"/>
          </a:xfrm>
          <a:prstGeom prst="rect">
            <a:avLst/>
          </a:prstGeom>
          <a:noFill/>
          <a:ln/>
        </p:spPr>
        <p:txBody>
          <a:bodyPr wrap="square" lIns="0" tIns="0" rIns="0" bIns="0" rtlCol="0" anchor="t"/>
          <a:lstStyle/>
          <a:p>
            <a:pPr indent="0" marL="0">
              <a:buNone/>
            </a:pPr>
            <a:r>
              <a:rPr lang="en-US" sz="1500" b="1" dirty="0">
                <a:solidFill>
                  <a:srgbClr val="9D87FF"/>
                </a:solidFill>
                <a:latin typeface="Calibri" pitchFamily="34" charset="0"/>
                <a:ea typeface="Calibri" pitchFamily="34" charset="-122"/>
                <a:cs typeface="Calibri" pitchFamily="34" charset="-120"/>
              </a:rPr>
              <a:t>One locality</a:t>
            </a:r>
            <a:endParaRPr lang="en-US" sz="1500" dirty="0"/>
          </a:p>
        </p:txBody>
      </p:sp>
      <p:sp>
        <p:nvSpPr>
          <p:cNvPr id="6" name="Text 4"/>
          <p:cNvSpPr/>
          <p:nvPr/>
        </p:nvSpPr>
        <p:spPr>
          <a:xfrm>
            <a:off x="1005840" y="2606040"/>
            <a:ext cx="2743200" cy="77724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25 kitchens</a:t>
            </a:r>
            <a:endParaRPr lang="en-US" sz="1200" dirty="0"/>
          </a:p>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15 orders/day</a:t>
            </a:r>
            <a:endParaRPr lang="en-US" sz="1200" dirty="0"/>
          </a:p>
        </p:txBody>
      </p:sp>
      <p:sp>
        <p:nvSpPr>
          <p:cNvPr id="7" name="Text 5"/>
          <p:cNvSpPr/>
          <p:nvPr/>
        </p:nvSpPr>
        <p:spPr>
          <a:xfrm>
            <a:off x="1005840" y="3520440"/>
            <a:ext cx="2743200" cy="548640"/>
          </a:xfrm>
          <a:prstGeom prst="rect">
            <a:avLst/>
          </a:prstGeom>
          <a:noFill/>
          <a:ln/>
        </p:spPr>
        <p:txBody>
          <a:bodyPr wrap="square" lIns="0" tIns="0" rIns="0" bIns="0" rtlCol="0" anchor="ctr"/>
          <a:lstStyle/>
          <a:p>
            <a:pPr indent="0" marL="0">
              <a:buNone/>
            </a:pPr>
            <a:r>
              <a:rPr lang="en-US" sz="2600" b="1" dirty="0">
                <a:solidFill>
                  <a:srgbClr val="F2F2F7"/>
                </a:solidFill>
                <a:latin typeface="Calibri" pitchFamily="34" charset="0"/>
                <a:ea typeface="Calibri" pitchFamily="34" charset="-122"/>
                <a:cs typeface="Calibri" pitchFamily="34" charset="-120"/>
              </a:rPr>
              <a:t>Rs 2.3 lakh</a:t>
            </a:r>
            <a:endParaRPr lang="en-US" sz="2600" dirty="0"/>
          </a:p>
        </p:txBody>
      </p:sp>
      <p:sp>
        <p:nvSpPr>
          <p:cNvPr id="8" name="Text 6"/>
          <p:cNvSpPr/>
          <p:nvPr/>
        </p:nvSpPr>
        <p:spPr>
          <a:xfrm>
            <a:off x="1005840" y="4069080"/>
            <a:ext cx="2743200" cy="457200"/>
          </a:xfrm>
          <a:prstGeom prst="rect">
            <a:avLst/>
          </a:prstGeom>
          <a:noFill/>
          <a:ln/>
        </p:spPr>
        <p:txBody>
          <a:bodyPr wrap="square" lIns="0" tIns="0" rIns="0" bIns="0" rtlCol="0" anchor="t"/>
          <a:lstStyle/>
          <a:p>
            <a:pPr indent="0" marL="0">
              <a:buNone/>
            </a:pPr>
            <a:r>
              <a:rPr lang="en-US" sz="1050" dirty="0">
                <a:solidFill>
                  <a:srgbClr val="63637D"/>
                </a:solidFill>
                <a:latin typeface="Calibri" pitchFamily="34" charset="0"/>
                <a:ea typeface="Calibri" pitchFamily="34" charset="-122"/>
                <a:cs typeface="Calibri" pitchFamily="34" charset="-120"/>
              </a:rPr>
              <a:t>per month, at Rs 20 per order</a:t>
            </a:r>
            <a:endParaRPr lang="en-US" sz="1050" dirty="0"/>
          </a:p>
        </p:txBody>
      </p:sp>
      <p:sp>
        <p:nvSpPr>
          <p:cNvPr id="9" name="Shape 7"/>
          <p:cNvSpPr/>
          <p:nvPr/>
        </p:nvSpPr>
        <p:spPr>
          <a:xfrm>
            <a:off x="4389120" y="1920240"/>
            <a:ext cx="3429000" cy="2834640"/>
          </a:xfrm>
          <a:prstGeom prst="roundRect">
            <a:avLst>
              <a:gd name="adj" fmla="val 3871"/>
            </a:avLst>
          </a:prstGeom>
          <a:solidFill>
            <a:srgbClr val="171723"/>
          </a:solidFill>
          <a:ln w="12700">
            <a:solidFill>
              <a:srgbClr val="2A2A3D"/>
            </a:solidFill>
            <a:prstDash val="solid"/>
          </a:ln>
        </p:spPr>
      </p:sp>
      <p:sp>
        <p:nvSpPr>
          <p:cNvPr id="10" name="Text 8"/>
          <p:cNvSpPr/>
          <p:nvPr/>
        </p:nvSpPr>
        <p:spPr>
          <a:xfrm>
            <a:off x="4754880" y="2148840"/>
            <a:ext cx="2743200" cy="365760"/>
          </a:xfrm>
          <a:prstGeom prst="rect">
            <a:avLst/>
          </a:prstGeom>
          <a:noFill/>
          <a:ln/>
        </p:spPr>
        <p:txBody>
          <a:bodyPr wrap="square" lIns="0" tIns="0" rIns="0" bIns="0" rtlCol="0" anchor="t"/>
          <a:lstStyle/>
          <a:p>
            <a:pPr indent="0" marL="0">
              <a:buNone/>
            </a:pPr>
            <a:r>
              <a:rPr lang="en-US" sz="1500" b="1" dirty="0">
                <a:solidFill>
                  <a:srgbClr val="7C5CFF"/>
                </a:solidFill>
                <a:latin typeface="Calibri" pitchFamily="34" charset="0"/>
                <a:ea typeface="Calibri" pitchFamily="34" charset="-122"/>
                <a:cs typeface="Calibri" pitchFamily="34" charset="-120"/>
              </a:rPr>
              <a:t>One city</a:t>
            </a:r>
            <a:endParaRPr lang="en-US" sz="1500" dirty="0"/>
          </a:p>
        </p:txBody>
      </p:sp>
      <p:sp>
        <p:nvSpPr>
          <p:cNvPr id="11" name="Text 9"/>
          <p:cNvSpPr/>
          <p:nvPr/>
        </p:nvSpPr>
        <p:spPr>
          <a:xfrm>
            <a:off x="4754880" y="2606040"/>
            <a:ext cx="2743200" cy="77724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400 kitchens</a:t>
            </a:r>
            <a:endParaRPr lang="en-US" sz="1200" dirty="0"/>
          </a:p>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15 orders/day</a:t>
            </a:r>
            <a:endParaRPr lang="en-US" sz="1200" dirty="0"/>
          </a:p>
        </p:txBody>
      </p:sp>
      <p:sp>
        <p:nvSpPr>
          <p:cNvPr id="12" name="Text 10"/>
          <p:cNvSpPr/>
          <p:nvPr/>
        </p:nvSpPr>
        <p:spPr>
          <a:xfrm>
            <a:off x="4754880" y="3520440"/>
            <a:ext cx="2743200" cy="548640"/>
          </a:xfrm>
          <a:prstGeom prst="rect">
            <a:avLst/>
          </a:prstGeom>
          <a:noFill/>
          <a:ln/>
        </p:spPr>
        <p:txBody>
          <a:bodyPr wrap="square" lIns="0" tIns="0" rIns="0" bIns="0" rtlCol="0" anchor="ctr"/>
          <a:lstStyle/>
          <a:p>
            <a:pPr indent="0" marL="0">
              <a:buNone/>
            </a:pPr>
            <a:r>
              <a:rPr lang="en-US" sz="2600" b="1" dirty="0">
                <a:solidFill>
                  <a:srgbClr val="F2F2F7"/>
                </a:solidFill>
                <a:latin typeface="Calibri" pitchFamily="34" charset="0"/>
                <a:ea typeface="Calibri" pitchFamily="34" charset="-122"/>
                <a:cs typeface="Calibri" pitchFamily="34" charset="-120"/>
              </a:rPr>
              <a:t>Rs 36 lakh</a:t>
            </a:r>
            <a:endParaRPr lang="en-US" sz="2600" dirty="0"/>
          </a:p>
        </p:txBody>
      </p:sp>
      <p:sp>
        <p:nvSpPr>
          <p:cNvPr id="13" name="Text 11"/>
          <p:cNvSpPr/>
          <p:nvPr/>
        </p:nvSpPr>
        <p:spPr>
          <a:xfrm>
            <a:off x="4754880" y="4069080"/>
            <a:ext cx="2743200" cy="457200"/>
          </a:xfrm>
          <a:prstGeom prst="rect">
            <a:avLst/>
          </a:prstGeom>
          <a:noFill/>
          <a:ln/>
        </p:spPr>
        <p:txBody>
          <a:bodyPr wrap="square" lIns="0" tIns="0" rIns="0" bIns="0" rtlCol="0" anchor="t"/>
          <a:lstStyle/>
          <a:p>
            <a:pPr indent="0" marL="0">
              <a:buNone/>
            </a:pPr>
            <a:r>
              <a:rPr lang="en-US" sz="1050" dirty="0">
                <a:solidFill>
                  <a:srgbClr val="63637D"/>
                </a:solidFill>
                <a:latin typeface="Calibri" pitchFamily="34" charset="0"/>
                <a:ea typeface="Calibri" pitchFamily="34" charset="-122"/>
                <a:cs typeface="Calibri" pitchFamily="34" charset="-120"/>
              </a:rPr>
              <a:t>per month, at Rs 20 per order</a:t>
            </a:r>
            <a:endParaRPr lang="en-US" sz="1050" dirty="0"/>
          </a:p>
        </p:txBody>
      </p:sp>
      <p:sp>
        <p:nvSpPr>
          <p:cNvPr id="14" name="Shape 12"/>
          <p:cNvSpPr/>
          <p:nvPr/>
        </p:nvSpPr>
        <p:spPr>
          <a:xfrm>
            <a:off x="8138160" y="1920240"/>
            <a:ext cx="3429000" cy="2834640"/>
          </a:xfrm>
          <a:prstGeom prst="roundRect">
            <a:avLst>
              <a:gd name="adj" fmla="val 3871"/>
            </a:avLst>
          </a:prstGeom>
          <a:solidFill>
            <a:srgbClr val="171723"/>
          </a:solidFill>
          <a:ln w="12700">
            <a:solidFill>
              <a:srgbClr val="2A2A3D"/>
            </a:solidFill>
            <a:prstDash val="solid"/>
          </a:ln>
        </p:spPr>
      </p:sp>
      <p:sp>
        <p:nvSpPr>
          <p:cNvPr id="15" name="Text 13"/>
          <p:cNvSpPr/>
          <p:nvPr/>
        </p:nvSpPr>
        <p:spPr>
          <a:xfrm>
            <a:off x="8503920" y="2148840"/>
            <a:ext cx="2743200" cy="365760"/>
          </a:xfrm>
          <a:prstGeom prst="rect">
            <a:avLst/>
          </a:prstGeom>
          <a:noFill/>
          <a:ln/>
        </p:spPr>
        <p:txBody>
          <a:bodyPr wrap="square" lIns="0" tIns="0" rIns="0" bIns="0" rtlCol="0" anchor="t"/>
          <a:lstStyle/>
          <a:p>
            <a:pPr indent="0" marL="0">
              <a:buNone/>
            </a:pPr>
            <a:r>
              <a:rPr lang="en-US" sz="1500" b="1" dirty="0">
                <a:solidFill>
                  <a:srgbClr val="25D366"/>
                </a:solidFill>
                <a:latin typeface="Calibri" pitchFamily="34" charset="0"/>
                <a:ea typeface="Calibri" pitchFamily="34" charset="-122"/>
                <a:cs typeface="Calibri" pitchFamily="34" charset="-120"/>
              </a:rPr>
              <a:t>Five cities</a:t>
            </a:r>
            <a:endParaRPr lang="en-US" sz="1500" dirty="0"/>
          </a:p>
        </p:txBody>
      </p:sp>
      <p:sp>
        <p:nvSpPr>
          <p:cNvPr id="16" name="Text 14"/>
          <p:cNvSpPr/>
          <p:nvPr/>
        </p:nvSpPr>
        <p:spPr>
          <a:xfrm>
            <a:off x="8503920" y="2606040"/>
            <a:ext cx="2743200" cy="777240"/>
          </a:xfrm>
          <a:prstGeom prst="rect">
            <a:avLst/>
          </a:prstGeom>
          <a:noFill/>
          <a:ln/>
        </p:spPr>
        <p:txBody>
          <a:bodyPr wrap="square" lIns="0" tIns="0" rIns="0" bIns="0" rtlCol="0" anchor="t"/>
          <a:lstStyle/>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2,000 kitchens</a:t>
            </a:r>
            <a:endParaRPr lang="en-US" sz="1200" dirty="0"/>
          </a:p>
          <a:p>
            <a:pPr indent="0" marL="0">
              <a:lnSpc>
                <a:spcPts val="1700"/>
              </a:lnSpc>
              <a:buNone/>
            </a:pPr>
            <a:r>
              <a:rPr lang="en-US" sz="1200" dirty="0">
                <a:solidFill>
                  <a:srgbClr val="9A9AB4"/>
                </a:solidFill>
                <a:latin typeface="Calibri" pitchFamily="34" charset="0"/>
                <a:ea typeface="Calibri" pitchFamily="34" charset="-122"/>
                <a:cs typeface="Calibri" pitchFamily="34" charset="-120"/>
              </a:rPr>
              <a:t>15 orders/day</a:t>
            </a:r>
            <a:endParaRPr lang="en-US" sz="1200" dirty="0"/>
          </a:p>
        </p:txBody>
      </p:sp>
      <p:sp>
        <p:nvSpPr>
          <p:cNvPr id="17" name="Text 15"/>
          <p:cNvSpPr/>
          <p:nvPr/>
        </p:nvSpPr>
        <p:spPr>
          <a:xfrm>
            <a:off x="8503920" y="3520440"/>
            <a:ext cx="2743200" cy="548640"/>
          </a:xfrm>
          <a:prstGeom prst="rect">
            <a:avLst/>
          </a:prstGeom>
          <a:noFill/>
          <a:ln/>
        </p:spPr>
        <p:txBody>
          <a:bodyPr wrap="square" lIns="0" tIns="0" rIns="0" bIns="0" rtlCol="0" anchor="ctr"/>
          <a:lstStyle/>
          <a:p>
            <a:pPr indent="0" marL="0">
              <a:buNone/>
            </a:pPr>
            <a:r>
              <a:rPr lang="en-US" sz="2600" b="1" dirty="0">
                <a:solidFill>
                  <a:srgbClr val="F2F2F7"/>
                </a:solidFill>
                <a:latin typeface="Calibri" pitchFamily="34" charset="0"/>
                <a:ea typeface="Calibri" pitchFamily="34" charset="-122"/>
                <a:cs typeface="Calibri" pitchFamily="34" charset="-120"/>
              </a:rPr>
              <a:t>Rs 18 crore</a:t>
            </a:r>
            <a:endParaRPr lang="en-US" sz="2600" dirty="0"/>
          </a:p>
        </p:txBody>
      </p:sp>
      <p:sp>
        <p:nvSpPr>
          <p:cNvPr id="18" name="Text 16"/>
          <p:cNvSpPr/>
          <p:nvPr/>
        </p:nvSpPr>
        <p:spPr>
          <a:xfrm>
            <a:off x="8503920" y="4069080"/>
            <a:ext cx="2743200" cy="457200"/>
          </a:xfrm>
          <a:prstGeom prst="rect">
            <a:avLst/>
          </a:prstGeom>
          <a:noFill/>
          <a:ln/>
        </p:spPr>
        <p:txBody>
          <a:bodyPr wrap="square" lIns="0" tIns="0" rIns="0" bIns="0" rtlCol="0" anchor="t"/>
          <a:lstStyle/>
          <a:p>
            <a:pPr indent="0" marL="0">
              <a:buNone/>
            </a:pPr>
            <a:r>
              <a:rPr lang="en-US" sz="1050" dirty="0">
                <a:solidFill>
                  <a:srgbClr val="63637D"/>
                </a:solidFill>
                <a:latin typeface="Calibri" pitchFamily="34" charset="0"/>
                <a:ea typeface="Calibri" pitchFamily="34" charset="-122"/>
                <a:cs typeface="Calibri" pitchFamily="34" charset="-120"/>
              </a:rPr>
              <a:t>per year, at Rs 20 per order</a:t>
            </a:r>
            <a:endParaRPr lang="en-US" sz="1050" dirty="0"/>
          </a:p>
        </p:txBody>
      </p:sp>
      <p:sp>
        <p:nvSpPr>
          <p:cNvPr id="19" name="Shape 17"/>
          <p:cNvSpPr/>
          <p:nvPr/>
        </p:nvSpPr>
        <p:spPr>
          <a:xfrm>
            <a:off x="640080" y="4983480"/>
            <a:ext cx="10881360" cy="1188720"/>
          </a:xfrm>
          <a:prstGeom prst="roundRect">
            <a:avLst>
              <a:gd name="adj" fmla="val 9231"/>
            </a:avLst>
          </a:prstGeom>
          <a:solidFill>
            <a:srgbClr val="171723"/>
          </a:solidFill>
          <a:ln w="12700">
            <a:solidFill>
              <a:srgbClr val="2A2A3D"/>
            </a:solidFill>
            <a:prstDash val="solid"/>
          </a:ln>
        </p:spPr>
      </p:sp>
      <p:sp>
        <p:nvSpPr>
          <p:cNvPr id="20" name="Text 18"/>
          <p:cNvSpPr/>
          <p:nvPr/>
        </p:nvSpPr>
        <p:spPr>
          <a:xfrm>
            <a:off x="960120" y="4983480"/>
            <a:ext cx="10241280" cy="1188720"/>
          </a:xfrm>
          <a:prstGeom prst="rect">
            <a:avLst/>
          </a:prstGeom>
          <a:noFill/>
          <a:ln/>
        </p:spPr>
        <p:txBody>
          <a:bodyPr wrap="square" lIns="0" tIns="0" rIns="0" bIns="0" rtlCol="0" anchor="ctr"/>
          <a:lstStyle/>
          <a:p>
            <a:pPr indent="0" marL="0">
              <a:lnSpc>
                <a:spcPts val="1550"/>
              </a:lnSpc>
              <a:buNone/>
            </a:pPr>
            <a:r>
              <a:rPr lang="en-US" sz="1100" b="1" dirty="0">
                <a:solidFill>
                  <a:srgbClr val="F5A524"/>
                </a:solidFill>
                <a:latin typeface="Calibri" pitchFamily="34" charset="0"/>
                <a:ea typeface="Calibri" pitchFamily="34" charset="-122"/>
                <a:cs typeface="Calibri" pitchFamily="34" charset="-120"/>
              </a:rPr>
              <a:t>Read these as arithmetic, not forecasts.  </a:t>
            </a:r>
            <a:pPr indent="0" marL="0">
              <a:lnSpc>
                <a:spcPts val="1550"/>
              </a:lnSpc>
              <a:buNone/>
            </a:pPr>
            <a:r>
              <a:rPr lang="en-US" sz="1100" dirty="0">
                <a:solidFill>
                  <a:srgbClr val="9A9AB4"/>
                </a:solidFill>
                <a:latin typeface="Calibri" pitchFamily="34" charset="0"/>
                <a:ea typeface="Calibri" pitchFamily="34" charset="-122"/>
                <a:cs typeface="Calibri" pitchFamily="34" charset="-120"/>
              </a:rPr>
              <a:t>They show what the pricing produces at given volumes — nothing more. Fifteen orders a day is a modest kitchen; onboarding fees are excluded; and none of it happens without the retention we have not yet proven. The honest headline is that the per-order fee reaches meaningful revenue at kitchen counts that a direct sales team can actually reach.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What actually stops someone copying this.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Beginning with what does not.</a:t>
            </a:r>
            <a:endParaRPr lang="en-US" sz="1550" dirty="0"/>
          </a:p>
        </p:txBody>
      </p:sp>
      <p:sp>
        <p:nvSpPr>
          <p:cNvPr id="4" name="Shape 2"/>
          <p:cNvSpPr/>
          <p:nvPr/>
        </p:nvSpPr>
        <p:spPr>
          <a:xfrm>
            <a:off x="640080" y="1920240"/>
            <a:ext cx="10881360" cy="868680"/>
          </a:xfrm>
          <a:prstGeom prst="roundRect">
            <a:avLst>
              <a:gd name="adj" fmla="val 12632"/>
            </a:avLst>
          </a:prstGeom>
          <a:solidFill>
            <a:srgbClr val="1C1C2B"/>
          </a:solidFill>
          <a:ln w="12700">
            <a:solidFill>
              <a:srgbClr val="F96167"/>
            </a:solidFill>
            <a:prstDash val="solid"/>
          </a:ln>
        </p:spPr>
      </p:sp>
      <p:sp>
        <p:nvSpPr>
          <p:cNvPr id="5" name="Text 3"/>
          <p:cNvSpPr/>
          <p:nvPr/>
        </p:nvSpPr>
        <p:spPr>
          <a:xfrm>
            <a:off x="960120" y="1920240"/>
            <a:ext cx="10241280" cy="868680"/>
          </a:xfrm>
          <a:prstGeom prst="rect">
            <a:avLst/>
          </a:prstGeom>
          <a:noFill/>
          <a:ln/>
        </p:spPr>
        <p:txBody>
          <a:bodyPr wrap="square" lIns="0" tIns="0" rIns="0" bIns="0" rtlCol="0" anchor="ctr"/>
          <a:lstStyle/>
          <a:p>
            <a:pPr indent="0" marL="0">
              <a:lnSpc>
                <a:spcPts val="1600"/>
              </a:lnSpc>
              <a:buNone/>
            </a:pPr>
            <a:r>
              <a:rPr lang="en-US" sz="1200" b="1" dirty="0">
                <a:solidFill>
                  <a:srgbClr val="F96167"/>
                </a:solidFill>
                <a:latin typeface="Calibri" pitchFamily="34" charset="0"/>
                <a:ea typeface="Calibri" pitchFamily="34" charset="-122"/>
                <a:cs typeface="Calibri" pitchFamily="34" charset="-120"/>
              </a:rPr>
              <a:t>Not the code.  </a:t>
            </a:r>
            <a:pPr indent="0" marL="0">
              <a:lnSpc>
                <a:spcPts val="1600"/>
              </a:lnSpc>
              <a:buNone/>
            </a:pPr>
            <a:r>
              <a:rPr lang="en-US" sz="1200" dirty="0">
                <a:solidFill>
                  <a:srgbClr val="9A9AB4"/>
                </a:solidFill>
                <a:latin typeface="Calibri" pitchFamily="34" charset="0"/>
                <a:ea typeface="Calibri" pitchFamily="34" charset="-122"/>
                <a:cs typeface="Calibri" pitchFamily="34" charset="-120"/>
              </a:rPr>
              <a:t>A competent team could rebuild the software in a few months. Saying otherwise would be the least credible thing in this deck. The defensibility is everywhere else.</a:t>
            </a:r>
            <a:endParaRPr lang="en-US" sz="1200" dirty="0"/>
          </a:p>
        </p:txBody>
      </p:sp>
      <p:sp>
        <p:nvSpPr>
          <p:cNvPr id="6" name="Shape 4"/>
          <p:cNvSpPr/>
          <p:nvPr/>
        </p:nvSpPr>
        <p:spPr>
          <a:xfrm>
            <a:off x="640080" y="3017520"/>
            <a:ext cx="5257800" cy="1417320"/>
          </a:xfrm>
          <a:prstGeom prst="roundRect">
            <a:avLst>
              <a:gd name="adj" fmla="val 7742"/>
            </a:avLst>
          </a:prstGeom>
          <a:solidFill>
            <a:srgbClr val="171723"/>
          </a:solidFill>
          <a:ln w="12700">
            <a:solidFill>
              <a:srgbClr val="2A2A3D"/>
            </a:solidFill>
            <a:prstDash val="solid"/>
          </a:ln>
        </p:spPr>
      </p:sp>
      <p:sp>
        <p:nvSpPr>
          <p:cNvPr id="7" name="Text 5"/>
          <p:cNvSpPr/>
          <p:nvPr/>
        </p:nvSpPr>
        <p:spPr>
          <a:xfrm>
            <a:off x="1005840" y="3200400"/>
            <a:ext cx="4572000" cy="365760"/>
          </a:xfrm>
          <a:prstGeom prst="rect">
            <a:avLst/>
          </a:prstGeom>
          <a:noFill/>
          <a:ln/>
        </p:spPr>
        <p:txBody>
          <a:bodyPr wrap="square" lIns="0" tIns="0" rIns="0" bIns="0" rtlCol="0" anchor="t"/>
          <a:lstStyle/>
          <a:p>
            <a:pPr indent="0" marL="0">
              <a:buNone/>
            </a:pPr>
            <a:r>
              <a:rPr lang="en-US" sz="1450" b="1" dirty="0">
                <a:solidFill>
                  <a:srgbClr val="9D87FF"/>
                </a:solidFill>
                <a:latin typeface="Calibri" pitchFamily="34" charset="0"/>
                <a:ea typeface="Calibri" pitchFamily="34" charset="-122"/>
                <a:cs typeface="Calibri" pitchFamily="34" charset="-120"/>
              </a:rPr>
              <a:t>Regulatory lead time</a:t>
            </a:r>
            <a:endParaRPr lang="en-US" sz="1450" dirty="0"/>
          </a:p>
        </p:txBody>
      </p:sp>
      <p:sp>
        <p:nvSpPr>
          <p:cNvPr id="8" name="Text 6"/>
          <p:cNvSpPr/>
          <p:nvPr/>
        </p:nvSpPr>
        <p:spPr>
          <a:xfrm>
            <a:off x="1005840" y="3584448"/>
            <a:ext cx="4572000" cy="77724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Company registration, sender ID, five approved templates and domain whitelisting on the DLT registry. Weeks of paperwork before a single message can be sent — for us once, for every follower too.</a:t>
            </a:r>
            <a:endParaRPr lang="en-US" sz="1050" dirty="0"/>
          </a:p>
        </p:txBody>
      </p:sp>
      <p:sp>
        <p:nvSpPr>
          <p:cNvPr id="9" name="Shape 7"/>
          <p:cNvSpPr/>
          <p:nvPr/>
        </p:nvSpPr>
        <p:spPr>
          <a:xfrm>
            <a:off x="6217920" y="3017520"/>
            <a:ext cx="5257800" cy="1417320"/>
          </a:xfrm>
          <a:prstGeom prst="roundRect">
            <a:avLst>
              <a:gd name="adj" fmla="val 7742"/>
            </a:avLst>
          </a:prstGeom>
          <a:solidFill>
            <a:srgbClr val="171723"/>
          </a:solidFill>
          <a:ln w="12700">
            <a:solidFill>
              <a:srgbClr val="2A2A3D"/>
            </a:solidFill>
            <a:prstDash val="solid"/>
          </a:ln>
        </p:spPr>
      </p:sp>
      <p:sp>
        <p:nvSpPr>
          <p:cNvPr id="10" name="Text 8"/>
          <p:cNvSpPr/>
          <p:nvPr/>
        </p:nvSpPr>
        <p:spPr>
          <a:xfrm>
            <a:off x="6583680" y="3200400"/>
            <a:ext cx="4572000" cy="365760"/>
          </a:xfrm>
          <a:prstGeom prst="rect">
            <a:avLst/>
          </a:prstGeom>
          <a:noFill/>
          <a:ln/>
        </p:spPr>
        <p:txBody>
          <a:bodyPr wrap="square" lIns="0" tIns="0" rIns="0" bIns="0" rtlCol="0" anchor="t"/>
          <a:lstStyle/>
          <a:p>
            <a:pPr indent="0" marL="0">
              <a:buNone/>
            </a:pPr>
            <a:r>
              <a:rPr lang="en-US" sz="1450" b="1" dirty="0">
                <a:solidFill>
                  <a:srgbClr val="9D87FF"/>
                </a:solidFill>
                <a:latin typeface="Calibri" pitchFamily="34" charset="0"/>
                <a:ea typeface="Calibri" pitchFamily="34" charset="-122"/>
                <a:cs typeface="Calibri" pitchFamily="34" charset="-120"/>
              </a:rPr>
              <a:t>Locality density</a:t>
            </a:r>
            <a:endParaRPr lang="en-US" sz="1450" dirty="0"/>
          </a:p>
        </p:txBody>
      </p:sp>
      <p:sp>
        <p:nvSpPr>
          <p:cNvPr id="11" name="Text 9"/>
          <p:cNvSpPr/>
          <p:nvPr/>
        </p:nvSpPr>
        <p:spPr>
          <a:xfrm>
            <a:off x="6583680" y="3584448"/>
            <a:ext cx="4572000" cy="77724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The value to a customer is how many kitchens serve their area. A newcomer must rebuild that street by street, against a list that is already full.</a:t>
            </a:r>
            <a:endParaRPr lang="en-US" sz="1050" dirty="0"/>
          </a:p>
        </p:txBody>
      </p:sp>
      <p:sp>
        <p:nvSpPr>
          <p:cNvPr id="12" name="Shape 10"/>
          <p:cNvSpPr/>
          <p:nvPr/>
        </p:nvSpPr>
        <p:spPr>
          <a:xfrm>
            <a:off x="640080" y="4617720"/>
            <a:ext cx="5257800" cy="1417320"/>
          </a:xfrm>
          <a:prstGeom prst="roundRect">
            <a:avLst>
              <a:gd name="adj" fmla="val 7742"/>
            </a:avLst>
          </a:prstGeom>
          <a:solidFill>
            <a:srgbClr val="171723"/>
          </a:solidFill>
          <a:ln w="12700">
            <a:solidFill>
              <a:srgbClr val="2A2A3D"/>
            </a:solidFill>
            <a:prstDash val="solid"/>
          </a:ln>
        </p:spPr>
      </p:sp>
      <p:sp>
        <p:nvSpPr>
          <p:cNvPr id="13" name="Text 11"/>
          <p:cNvSpPr/>
          <p:nvPr/>
        </p:nvSpPr>
        <p:spPr>
          <a:xfrm>
            <a:off x="1005840" y="4800600"/>
            <a:ext cx="4572000" cy="365760"/>
          </a:xfrm>
          <a:prstGeom prst="rect">
            <a:avLst/>
          </a:prstGeom>
          <a:noFill/>
          <a:ln/>
        </p:spPr>
        <p:txBody>
          <a:bodyPr wrap="square" lIns="0" tIns="0" rIns="0" bIns="0" rtlCol="0" anchor="t"/>
          <a:lstStyle/>
          <a:p>
            <a:pPr indent="0" marL="0">
              <a:buNone/>
            </a:pPr>
            <a:r>
              <a:rPr lang="en-US" sz="1450" b="1" dirty="0">
                <a:solidFill>
                  <a:srgbClr val="9D87FF"/>
                </a:solidFill>
                <a:latin typeface="Calibri" pitchFamily="34" charset="0"/>
                <a:ea typeface="Calibri" pitchFamily="34" charset="-122"/>
                <a:cs typeface="Calibri" pitchFamily="34" charset="-120"/>
              </a:rPr>
              <a:t>The customer graph</a:t>
            </a:r>
            <a:endParaRPr lang="en-US" sz="1450" dirty="0"/>
          </a:p>
        </p:txBody>
      </p:sp>
      <p:sp>
        <p:nvSpPr>
          <p:cNvPr id="14" name="Text 12"/>
          <p:cNvSpPr/>
          <p:nvPr/>
        </p:nvSpPr>
        <p:spPr>
          <a:xfrm>
            <a:off x="1005840" y="5184648"/>
            <a:ext cx="4572000" cy="77724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Every number that has texted us, with saved addresses and order history. It gets more valuable per order and cannot be bought.</a:t>
            </a:r>
            <a:endParaRPr lang="en-US" sz="1050" dirty="0"/>
          </a:p>
        </p:txBody>
      </p:sp>
      <p:sp>
        <p:nvSpPr>
          <p:cNvPr id="15" name="Shape 13"/>
          <p:cNvSpPr/>
          <p:nvPr/>
        </p:nvSpPr>
        <p:spPr>
          <a:xfrm>
            <a:off x="6217920" y="4617720"/>
            <a:ext cx="5257800" cy="1417320"/>
          </a:xfrm>
          <a:prstGeom prst="roundRect">
            <a:avLst>
              <a:gd name="adj" fmla="val 7742"/>
            </a:avLst>
          </a:prstGeom>
          <a:solidFill>
            <a:srgbClr val="171723"/>
          </a:solidFill>
          <a:ln w="12700">
            <a:solidFill>
              <a:srgbClr val="2A2A3D"/>
            </a:solidFill>
            <a:prstDash val="solid"/>
          </a:ln>
        </p:spPr>
      </p:sp>
      <p:sp>
        <p:nvSpPr>
          <p:cNvPr id="16" name="Text 14"/>
          <p:cNvSpPr/>
          <p:nvPr/>
        </p:nvSpPr>
        <p:spPr>
          <a:xfrm>
            <a:off x="6583680" y="4800600"/>
            <a:ext cx="4572000" cy="365760"/>
          </a:xfrm>
          <a:prstGeom prst="rect">
            <a:avLst/>
          </a:prstGeom>
          <a:noFill/>
          <a:ln/>
        </p:spPr>
        <p:txBody>
          <a:bodyPr wrap="square" lIns="0" tIns="0" rIns="0" bIns="0" rtlCol="0" anchor="t"/>
          <a:lstStyle/>
          <a:p>
            <a:pPr indent="0" marL="0">
              <a:buNone/>
            </a:pPr>
            <a:r>
              <a:rPr lang="en-US" sz="1450" b="1" dirty="0">
                <a:solidFill>
                  <a:srgbClr val="9D87FF"/>
                </a:solidFill>
                <a:latin typeface="Calibri" pitchFamily="34" charset="0"/>
                <a:ea typeface="Calibri" pitchFamily="34" charset="-122"/>
                <a:cs typeface="Calibri" pitchFamily="34" charset="-120"/>
              </a:rPr>
              <a:t>Trust with operators</a:t>
            </a:r>
            <a:endParaRPr lang="en-US" sz="1450" dirty="0"/>
          </a:p>
        </p:txBody>
      </p:sp>
      <p:sp>
        <p:nvSpPr>
          <p:cNvPr id="17" name="Text 15"/>
          <p:cNvSpPr/>
          <p:nvPr/>
        </p:nvSpPr>
        <p:spPr>
          <a:xfrm>
            <a:off x="6583680" y="5184648"/>
            <a:ext cx="4572000" cy="777240"/>
          </a:xfrm>
          <a:prstGeom prst="rect">
            <a:avLst/>
          </a:prstGeom>
          <a:noFill/>
          <a:ln/>
        </p:spPr>
        <p:txBody>
          <a:bodyPr wrap="square" lIns="0" tIns="0" rIns="0" bIns="0" rtlCol="0" anchor="t"/>
          <a:lstStyle/>
          <a:p>
            <a:pPr indent="0" marL="0">
              <a:lnSpc>
                <a:spcPts val="1400"/>
              </a:lnSpc>
              <a:buNone/>
            </a:pPr>
            <a:r>
              <a:rPr lang="en-US" sz="1050" dirty="0">
                <a:solidFill>
                  <a:srgbClr val="9A9AB4"/>
                </a:solidFill>
                <a:latin typeface="Calibri" pitchFamily="34" charset="0"/>
                <a:ea typeface="Calibri" pitchFamily="34" charset="-122"/>
                <a:cs typeface="Calibri" pitchFamily="34" charset="-120"/>
              </a:rPr>
              <a:t>A flat fee that never rises with the bill, and money that never passes through us. Easy to promise, hard to copy for anyone whose model needs a percentage.</a:t>
            </a:r>
            <a:endParaRPr lang="en-US" sz="1050" dirty="0"/>
          </a:p>
        </p:txBody>
      </p:sp>
      <p:sp>
        <p:nvSpPr>
          <p:cNvPr id="18" name="Text 16"/>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What could go wrong.</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A9AB4"/>
                </a:solidFill>
                <a:latin typeface="Calibri" pitchFamily="34" charset="0"/>
                <a:ea typeface="Calibri" pitchFamily="34" charset="-122"/>
                <a:cs typeface="Calibri" pitchFamily="34" charset="-120"/>
              </a:rPr>
              <a:t>The four we watch most closely, and what we do about each.</a:t>
            </a:r>
            <a:endParaRPr lang="en-US" sz="1550" dirty="0"/>
          </a:p>
        </p:txBody>
      </p:sp>
      <p:sp>
        <p:nvSpPr>
          <p:cNvPr id="4" name="Shape 2"/>
          <p:cNvSpPr/>
          <p:nvPr/>
        </p:nvSpPr>
        <p:spPr>
          <a:xfrm>
            <a:off x="640080" y="1920240"/>
            <a:ext cx="10881360" cy="960120"/>
          </a:xfrm>
          <a:prstGeom prst="roundRect">
            <a:avLst>
              <a:gd name="adj" fmla="val 11429"/>
            </a:avLst>
          </a:prstGeom>
          <a:solidFill>
            <a:srgbClr val="171723"/>
          </a:solidFill>
          <a:ln w="12700">
            <a:solidFill>
              <a:srgbClr val="2A2A3D"/>
            </a:solidFill>
            <a:prstDash val="solid"/>
          </a:ln>
        </p:spPr>
      </p:sp>
      <p:sp>
        <p:nvSpPr>
          <p:cNvPr id="5" name="Text 3"/>
          <p:cNvSpPr/>
          <p:nvPr/>
        </p:nvSpPr>
        <p:spPr>
          <a:xfrm>
            <a:off x="960120" y="1920240"/>
            <a:ext cx="4297680" cy="960120"/>
          </a:xfrm>
          <a:prstGeom prst="rect">
            <a:avLst/>
          </a:prstGeom>
          <a:noFill/>
          <a:ln/>
        </p:spPr>
        <p:txBody>
          <a:bodyPr wrap="square" lIns="0" tIns="0" rIns="0" bIns="0" rtlCol="0" anchor="ctr"/>
          <a:lstStyle/>
          <a:p>
            <a:pPr indent="0" marL="0">
              <a:lnSpc>
                <a:spcPts val="1500"/>
              </a:lnSpc>
              <a:buNone/>
            </a:pPr>
            <a:r>
              <a:rPr lang="en-US" sz="1150" b="1" dirty="0">
                <a:solidFill>
                  <a:srgbClr val="F96167"/>
                </a:solidFill>
                <a:latin typeface="Calibri" pitchFamily="34" charset="0"/>
                <a:ea typeface="Calibri" pitchFamily="34" charset="-122"/>
                <a:cs typeface="Calibri" pitchFamily="34" charset="-120"/>
              </a:rPr>
              <a:t>Aggregators retaliate — de-ranking kitchens that also sell direct</a:t>
            </a:r>
            <a:endParaRPr lang="en-US" sz="1150" dirty="0"/>
          </a:p>
        </p:txBody>
      </p:sp>
      <p:sp>
        <p:nvSpPr>
          <p:cNvPr id="6" name="Text 4"/>
          <p:cNvSpPr/>
          <p:nvPr/>
        </p:nvSpPr>
        <p:spPr>
          <a:xfrm>
            <a:off x="5486400" y="1920240"/>
            <a:ext cx="5806440" cy="960120"/>
          </a:xfrm>
          <a:prstGeom prst="rect">
            <a:avLst/>
          </a:prstGeom>
          <a:noFill/>
          <a:ln/>
        </p:spPr>
        <p:txBody>
          <a:bodyPr wrap="square" lIns="0" tIns="0" rIns="0" bIns="0" rtlCol="0" anchor="ctr"/>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Direct ordering is not exclusive and not visible to them. A kitchen keeps both, and we are the cheaper channel rather than the only one.</a:t>
            </a:r>
            <a:endParaRPr lang="en-US" sz="1100" dirty="0"/>
          </a:p>
        </p:txBody>
      </p:sp>
      <p:sp>
        <p:nvSpPr>
          <p:cNvPr id="7" name="Shape 5"/>
          <p:cNvSpPr/>
          <p:nvPr/>
        </p:nvSpPr>
        <p:spPr>
          <a:xfrm>
            <a:off x="640080" y="3017520"/>
            <a:ext cx="10881360" cy="960120"/>
          </a:xfrm>
          <a:prstGeom prst="roundRect">
            <a:avLst>
              <a:gd name="adj" fmla="val 11429"/>
            </a:avLst>
          </a:prstGeom>
          <a:solidFill>
            <a:srgbClr val="171723"/>
          </a:solidFill>
          <a:ln w="12700">
            <a:solidFill>
              <a:srgbClr val="2A2A3D"/>
            </a:solidFill>
            <a:prstDash val="solid"/>
          </a:ln>
        </p:spPr>
      </p:sp>
      <p:sp>
        <p:nvSpPr>
          <p:cNvPr id="8" name="Text 6"/>
          <p:cNvSpPr/>
          <p:nvPr/>
        </p:nvSpPr>
        <p:spPr>
          <a:xfrm>
            <a:off x="960120" y="3017520"/>
            <a:ext cx="4297680" cy="960120"/>
          </a:xfrm>
          <a:prstGeom prst="rect">
            <a:avLst/>
          </a:prstGeom>
          <a:noFill/>
          <a:ln/>
        </p:spPr>
        <p:txBody>
          <a:bodyPr wrap="square" lIns="0" tIns="0" rIns="0" bIns="0" rtlCol="0" anchor="ctr"/>
          <a:lstStyle/>
          <a:p>
            <a:pPr indent="0" marL="0">
              <a:lnSpc>
                <a:spcPts val="1500"/>
              </a:lnSpc>
              <a:buNone/>
            </a:pPr>
            <a:r>
              <a:rPr lang="en-US" sz="1150" b="1" dirty="0">
                <a:solidFill>
                  <a:srgbClr val="F96167"/>
                </a:solidFill>
                <a:latin typeface="Calibri" pitchFamily="34" charset="0"/>
                <a:ea typeface="Calibri" pitchFamily="34" charset="-122"/>
                <a:cs typeface="Calibri" pitchFamily="34" charset="-120"/>
              </a:rPr>
              <a:t>SMS deliverability — templates rejected, links stripped, messages silently dropped</a:t>
            </a:r>
            <a:endParaRPr lang="en-US" sz="1150" dirty="0"/>
          </a:p>
        </p:txBody>
      </p:sp>
      <p:sp>
        <p:nvSpPr>
          <p:cNvPr id="9" name="Text 7"/>
          <p:cNvSpPr/>
          <p:nvPr/>
        </p:nvSpPr>
        <p:spPr>
          <a:xfrm>
            <a:off x="5486400" y="3017520"/>
            <a:ext cx="5806440" cy="960120"/>
          </a:xfrm>
          <a:prstGeom prst="rect">
            <a:avLst/>
          </a:prstGeom>
          <a:noFill/>
          <a:ln/>
        </p:spPr>
        <p:txBody>
          <a:bodyPr wrap="square" lIns="0" tIns="0" rIns="0" bIns="0" rtlCol="0" anchor="ctr"/>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Templates and domain registered up front. The QR entry point delivers the identical journey with no SMS at all, so the product works even if a message never sends.</a:t>
            </a:r>
            <a:endParaRPr lang="en-US" sz="1100" dirty="0"/>
          </a:p>
        </p:txBody>
      </p:sp>
      <p:sp>
        <p:nvSpPr>
          <p:cNvPr id="10" name="Shape 8"/>
          <p:cNvSpPr/>
          <p:nvPr/>
        </p:nvSpPr>
        <p:spPr>
          <a:xfrm>
            <a:off x="640080" y="4114800"/>
            <a:ext cx="10881360" cy="960120"/>
          </a:xfrm>
          <a:prstGeom prst="roundRect">
            <a:avLst>
              <a:gd name="adj" fmla="val 11429"/>
            </a:avLst>
          </a:prstGeom>
          <a:solidFill>
            <a:srgbClr val="171723"/>
          </a:solidFill>
          <a:ln w="12700">
            <a:solidFill>
              <a:srgbClr val="2A2A3D"/>
            </a:solidFill>
            <a:prstDash val="solid"/>
          </a:ln>
        </p:spPr>
      </p:sp>
      <p:sp>
        <p:nvSpPr>
          <p:cNvPr id="11" name="Text 9"/>
          <p:cNvSpPr/>
          <p:nvPr/>
        </p:nvSpPr>
        <p:spPr>
          <a:xfrm>
            <a:off x="960120" y="4114800"/>
            <a:ext cx="4297680" cy="960120"/>
          </a:xfrm>
          <a:prstGeom prst="rect">
            <a:avLst/>
          </a:prstGeom>
          <a:noFill/>
          <a:ln/>
        </p:spPr>
        <p:txBody>
          <a:bodyPr wrap="square" lIns="0" tIns="0" rIns="0" bIns="0" rtlCol="0" anchor="ctr"/>
          <a:lstStyle/>
          <a:p>
            <a:pPr indent="0" marL="0">
              <a:lnSpc>
                <a:spcPts val="1500"/>
              </a:lnSpc>
              <a:buNone/>
            </a:pPr>
            <a:r>
              <a:rPr lang="en-US" sz="1150" b="1" dirty="0">
                <a:solidFill>
                  <a:srgbClr val="F96167"/>
                </a:solidFill>
                <a:latin typeface="Calibri" pitchFamily="34" charset="0"/>
                <a:ea typeface="Calibri" pitchFamily="34" charset="-122"/>
                <a:cs typeface="Calibri" pitchFamily="34" charset="-120"/>
              </a:rPr>
              <a:t>Kitchens sign up and stop using it</a:t>
            </a:r>
            <a:endParaRPr lang="en-US" sz="1150" dirty="0"/>
          </a:p>
        </p:txBody>
      </p:sp>
      <p:sp>
        <p:nvSpPr>
          <p:cNvPr id="12" name="Text 10"/>
          <p:cNvSpPr/>
          <p:nvPr/>
        </p:nvSpPr>
        <p:spPr>
          <a:xfrm>
            <a:off x="5486400" y="4114800"/>
            <a:ext cx="5806440" cy="960120"/>
          </a:xfrm>
          <a:prstGeom prst="rect">
            <a:avLst/>
          </a:prstGeom>
          <a:noFill/>
          <a:ln/>
        </p:spPr>
        <p:txBody>
          <a:bodyPr wrap="square" lIns="0" tIns="0" rIns="0" bIns="0" rtlCol="0" anchor="ctr"/>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The onboarding fee filters for intent, and billing is per completed order — we only earn when it is genuinely being used. Retention shows up in revenue immediately.</a:t>
            </a:r>
            <a:endParaRPr lang="en-US" sz="1100" dirty="0"/>
          </a:p>
        </p:txBody>
      </p:sp>
      <p:sp>
        <p:nvSpPr>
          <p:cNvPr id="13" name="Shape 11"/>
          <p:cNvSpPr/>
          <p:nvPr/>
        </p:nvSpPr>
        <p:spPr>
          <a:xfrm>
            <a:off x="640080" y="5212080"/>
            <a:ext cx="10881360" cy="960120"/>
          </a:xfrm>
          <a:prstGeom prst="roundRect">
            <a:avLst>
              <a:gd name="adj" fmla="val 11429"/>
            </a:avLst>
          </a:prstGeom>
          <a:solidFill>
            <a:srgbClr val="171723"/>
          </a:solidFill>
          <a:ln w="12700">
            <a:solidFill>
              <a:srgbClr val="2A2A3D"/>
            </a:solidFill>
            <a:prstDash val="solid"/>
          </a:ln>
        </p:spPr>
      </p:sp>
      <p:sp>
        <p:nvSpPr>
          <p:cNvPr id="14" name="Text 12"/>
          <p:cNvSpPr/>
          <p:nvPr/>
        </p:nvSpPr>
        <p:spPr>
          <a:xfrm>
            <a:off x="960120" y="5212080"/>
            <a:ext cx="4297680" cy="960120"/>
          </a:xfrm>
          <a:prstGeom prst="rect">
            <a:avLst/>
          </a:prstGeom>
          <a:noFill/>
          <a:ln/>
        </p:spPr>
        <p:txBody>
          <a:bodyPr wrap="square" lIns="0" tIns="0" rIns="0" bIns="0" rtlCol="0" anchor="ctr"/>
          <a:lstStyle/>
          <a:p>
            <a:pPr indent="0" marL="0">
              <a:lnSpc>
                <a:spcPts val="1500"/>
              </a:lnSpc>
              <a:buNone/>
            </a:pPr>
            <a:r>
              <a:rPr lang="en-US" sz="1150" b="1" dirty="0">
                <a:solidFill>
                  <a:srgbClr val="F96167"/>
                </a:solidFill>
                <a:latin typeface="Calibri" pitchFamily="34" charset="0"/>
                <a:ea typeface="Calibri" pitchFamily="34" charset="-122"/>
                <a:cs typeface="Calibri" pitchFamily="34" charset="-120"/>
              </a:rPr>
              <a:t>Abuse — junk orders, scripted sign-ups, cost inflation</a:t>
            </a:r>
            <a:endParaRPr lang="en-US" sz="1150" dirty="0"/>
          </a:p>
        </p:txBody>
      </p:sp>
      <p:sp>
        <p:nvSpPr>
          <p:cNvPr id="15" name="Text 13"/>
          <p:cNvSpPr/>
          <p:nvPr/>
        </p:nvSpPr>
        <p:spPr>
          <a:xfrm>
            <a:off x="5486400" y="5212080"/>
            <a:ext cx="5806440" cy="960120"/>
          </a:xfrm>
          <a:prstGeom prst="rect">
            <a:avLst/>
          </a:prstGeom>
          <a:noFill/>
          <a:ln/>
        </p:spPr>
        <p:txBody>
          <a:bodyPr wrap="square" lIns="0" tIns="0" rIns="0" bIns="0" rtlCol="0" anchor="ctr"/>
          <a:lstStyle/>
          <a:p>
            <a:pPr indent="0" marL="0">
              <a:lnSpc>
                <a:spcPts val="1500"/>
              </a:lnSpc>
              <a:buNone/>
            </a:pPr>
            <a:r>
              <a:rPr lang="en-US" sz="1100" dirty="0">
                <a:solidFill>
                  <a:srgbClr val="9A9AB4"/>
                </a:solidFill>
                <a:latin typeface="Calibri" pitchFamily="34" charset="0"/>
                <a:ea typeface="Calibri" pitchFamily="34" charset="-122"/>
                <a:cs typeface="Calibri" pitchFamily="34" charset="-120"/>
              </a:rPr>
              <a:t>Rate limiting per number before any public campaign. Openly still on the list, and it must be closed before printed distribution.</a:t>
            </a:r>
            <a:endParaRPr lang="en-US" sz="1100" dirty="0"/>
          </a:p>
        </p:txBody>
      </p:sp>
      <p:sp>
        <p:nvSpPr>
          <p:cNvPr id="16" name="Text 14"/>
          <p:cNvSpPr/>
          <p:nvPr/>
        </p:nvSpPr>
        <p:spPr>
          <a:xfrm>
            <a:off x="640080" y="6355080"/>
            <a:ext cx="10881360" cy="411480"/>
          </a:xfrm>
          <a:prstGeom prst="rect">
            <a:avLst/>
          </a:prstGeom>
          <a:noFill/>
          <a:ln/>
        </p:spPr>
        <p:txBody>
          <a:bodyPr wrap="square" lIns="0" tIns="0" rIns="0" bIns="0" rtlCol="0" anchor="t"/>
          <a:lstStyle/>
          <a:p>
            <a:pPr indent="0" marL="0">
              <a:buNone/>
            </a:pPr>
            <a:r>
              <a:rPr lang="en-US" sz="1200" i="1" dirty="0">
                <a:solidFill>
                  <a:srgbClr val="9D87FF"/>
                </a:solidFill>
                <a:latin typeface="Calibri" pitchFamily="34" charset="0"/>
                <a:ea typeface="Calibri" pitchFamily="34" charset="-122"/>
                <a:cs typeface="Calibri" pitchFamily="34" charset="-120"/>
              </a:rPr>
              <a:t>The largest risk is the ordinary one: that not enough kitchens want this enough to change how they work. Only selling will answer it.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475488"/>
            <a:ext cx="10972800" cy="749808"/>
          </a:xfrm>
          <a:prstGeom prst="rect">
            <a:avLst/>
          </a:prstGeom>
          <a:noFill/>
          <a:ln/>
        </p:spPr>
        <p:txBody>
          <a:bodyPr wrap="square" lIns="0" tIns="0" rIns="0" bIns="0" rtlCol="0" anchor="t"/>
          <a:lstStyle/>
          <a:p>
            <a:pPr indent="0" marL="0">
              <a:buNone/>
            </a:pPr>
            <a:r>
              <a:rPr lang="en-US" sz="3000" b="1" dirty="0">
                <a:solidFill>
                  <a:srgbClr val="F2F2F7"/>
                </a:solidFill>
                <a:latin typeface="Calibri" pitchFamily="34" charset="0"/>
                <a:ea typeface="Calibri" pitchFamily="34" charset="-122"/>
                <a:cs typeface="Calibri" pitchFamily="34" charset="-120"/>
              </a:rPr>
              <a:t>The next twelve months.</a:t>
            </a:r>
            <a:endParaRPr lang="en-US" sz="3000" dirty="0"/>
          </a:p>
        </p:txBody>
      </p:sp>
      <p:sp>
        <p:nvSpPr>
          <p:cNvPr id="3" name="Text 1"/>
          <p:cNvSpPr/>
          <p:nvPr/>
        </p:nvSpPr>
        <p:spPr>
          <a:xfrm>
            <a:off x="640080" y="1243584"/>
            <a:ext cx="10972800" cy="457200"/>
          </a:xfrm>
          <a:prstGeom prst="rect">
            <a:avLst/>
          </a:prstGeom>
          <a:noFill/>
          <a:ln/>
        </p:spPr>
        <p:txBody>
          <a:bodyPr wrap="square" lIns="0" tIns="0" rIns="0" bIns="0" rtlCol="0" anchor="t"/>
          <a:lstStyle/>
          <a:p>
            <a:pPr indent="0" marL="0">
              <a:buNone/>
            </a:pPr>
            <a:r>
              <a:rPr lang="en-US" sz="1550" i="1" dirty="0">
                <a:solidFill>
                  <a:srgbClr val="9D87FF"/>
                </a:solidFill>
                <a:latin typeface="Calibri" pitchFamily="34" charset="0"/>
                <a:ea typeface="Calibri" pitchFamily="34" charset="-122"/>
                <a:cs typeface="Calibri" pitchFamily="34" charset="-120"/>
              </a:rPr>
              <a:t>What we intend to prove, in order.</a:t>
            </a:r>
            <a:endParaRPr lang="en-US" sz="1550" dirty="0"/>
          </a:p>
        </p:txBody>
      </p:sp>
      <p:sp>
        <p:nvSpPr>
          <p:cNvPr id="4" name="Shape 2"/>
          <p:cNvSpPr/>
          <p:nvPr/>
        </p:nvSpPr>
        <p:spPr>
          <a:xfrm>
            <a:off x="640080" y="1920240"/>
            <a:ext cx="2560320" cy="3108960"/>
          </a:xfrm>
          <a:prstGeom prst="roundRect">
            <a:avLst>
              <a:gd name="adj" fmla="val 4286"/>
            </a:avLst>
          </a:prstGeom>
          <a:solidFill>
            <a:srgbClr val="171723"/>
          </a:solidFill>
          <a:ln w="12700">
            <a:solidFill>
              <a:srgbClr val="2A2A3D"/>
            </a:solidFill>
            <a:prstDash val="solid"/>
          </a:ln>
        </p:spPr>
      </p:sp>
      <p:sp>
        <p:nvSpPr>
          <p:cNvPr id="5" name="Shape 3"/>
          <p:cNvSpPr/>
          <p:nvPr/>
        </p:nvSpPr>
        <p:spPr>
          <a:xfrm>
            <a:off x="960120" y="2194560"/>
            <a:ext cx="1783080" cy="347472"/>
          </a:xfrm>
          <a:prstGeom prst="roundRect">
            <a:avLst>
              <a:gd name="adj" fmla="val 21053"/>
            </a:avLst>
          </a:prstGeom>
          <a:solidFill>
            <a:srgbClr val="25D366"/>
          </a:solidFill>
          <a:ln w="12700">
            <a:solidFill>
              <a:srgbClr val="25D366"/>
            </a:solidFill>
            <a:prstDash val="solid"/>
          </a:ln>
        </p:spPr>
      </p:sp>
      <p:sp>
        <p:nvSpPr>
          <p:cNvPr id="6" name="Text 4"/>
          <p:cNvSpPr/>
          <p:nvPr/>
        </p:nvSpPr>
        <p:spPr>
          <a:xfrm>
            <a:off x="960120" y="2194560"/>
            <a:ext cx="1783080" cy="347472"/>
          </a:xfrm>
          <a:prstGeom prst="rect">
            <a:avLst/>
          </a:prstGeom>
          <a:noFill/>
          <a:ln/>
        </p:spPr>
        <p:txBody>
          <a:bodyPr wrap="square" lIns="0" tIns="0" rIns="0" bIns="0" rtlCol="0" anchor="ctr"/>
          <a:lstStyle/>
          <a:p>
            <a:pPr algn="ctr" indent="0" marL="0">
              <a:buNone/>
            </a:pPr>
            <a:r>
              <a:rPr lang="en-US" sz="1050" b="1" dirty="0">
                <a:solidFill>
                  <a:srgbClr val="0A0A12"/>
                </a:solidFill>
                <a:latin typeface="Calibri" pitchFamily="34" charset="0"/>
                <a:ea typeface="Calibri" pitchFamily="34" charset="-122"/>
                <a:cs typeface="Calibri" pitchFamily="34" charset="-120"/>
              </a:rPr>
              <a:t>Now → 3 months</a:t>
            </a:r>
            <a:endParaRPr lang="en-US" sz="1050" dirty="0"/>
          </a:p>
        </p:txBody>
      </p:sp>
      <p:sp>
        <p:nvSpPr>
          <p:cNvPr id="7" name="Text 5"/>
          <p:cNvSpPr/>
          <p:nvPr/>
        </p:nvSpPr>
        <p:spPr>
          <a:xfrm>
            <a:off x="960120" y="2743200"/>
            <a:ext cx="1920240" cy="2103120"/>
          </a:xfrm>
          <a:prstGeom prst="rect">
            <a:avLst/>
          </a:prstGeom>
          <a:noFill/>
          <a:ln/>
        </p:spPr>
        <p:txBody>
          <a:bodyPr wrap="square" lIns="0" tIns="0" rIns="0" bIns="0" rtlCol="0" anchor="t"/>
          <a:lstStyle/>
          <a:p>
            <a:pPr indent="0" marL="0">
              <a:lnSpc>
                <a:spcPts val="1500"/>
              </a:lnSpc>
              <a:buNone/>
            </a:pPr>
            <a:r>
              <a:rPr lang="en-US" sz="1050" dirty="0">
                <a:solidFill>
                  <a:srgbClr val="9A9AB4"/>
                </a:solidFill>
                <a:latin typeface="Calibri" pitchFamily="34" charset="0"/>
                <a:ea typeface="Calibri" pitchFamily="34" charset="-122"/>
                <a:cs typeface="Calibri" pitchFamily="34" charset="-120"/>
              </a:rPr>
              <a:t>DLT approval live. Rate limiting closed. First paying kitchens in one Pune locality. The number to watch: what share of a kitchen's orders come back direct.</a:t>
            </a:r>
            <a:endParaRPr lang="en-US" sz="1050" dirty="0"/>
          </a:p>
        </p:txBody>
      </p:sp>
      <p:sp>
        <p:nvSpPr>
          <p:cNvPr id="8" name="Shape 6"/>
          <p:cNvSpPr/>
          <p:nvPr/>
        </p:nvSpPr>
        <p:spPr>
          <a:xfrm>
            <a:off x="3429000" y="1920240"/>
            <a:ext cx="2560320" cy="3108960"/>
          </a:xfrm>
          <a:prstGeom prst="roundRect">
            <a:avLst>
              <a:gd name="adj" fmla="val 4286"/>
            </a:avLst>
          </a:prstGeom>
          <a:solidFill>
            <a:srgbClr val="171723"/>
          </a:solidFill>
          <a:ln w="12700">
            <a:solidFill>
              <a:srgbClr val="2A2A3D"/>
            </a:solidFill>
            <a:prstDash val="solid"/>
          </a:ln>
        </p:spPr>
      </p:sp>
      <p:sp>
        <p:nvSpPr>
          <p:cNvPr id="9" name="Shape 7"/>
          <p:cNvSpPr/>
          <p:nvPr/>
        </p:nvSpPr>
        <p:spPr>
          <a:xfrm>
            <a:off x="3749040" y="2194560"/>
            <a:ext cx="1783080" cy="347472"/>
          </a:xfrm>
          <a:prstGeom prst="roundRect">
            <a:avLst>
              <a:gd name="adj" fmla="val 21053"/>
            </a:avLst>
          </a:prstGeom>
          <a:solidFill>
            <a:srgbClr val="9D87FF"/>
          </a:solidFill>
          <a:ln w="12700">
            <a:solidFill>
              <a:srgbClr val="9D87FF"/>
            </a:solidFill>
            <a:prstDash val="solid"/>
          </a:ln>
        </p:spPr>
      </p:sp>
      <p:sp>
        <p:nvSpPr>
          <p:cNvPr id="10" name="Text 8"/>
          <p:cNvSpPr/>
          <p:nvPr/>
        </p:nvSpPr>
        <p:spPr>
          <a:xfrm>
            <a:off x="3749040" y="2194560"/>
            <a:ext cx="1783080" cy="347472"/>
          </a:xfrm>
          <a:prstGeom prst="rect">
            <a:avLst/>
          </a:prstGeom>
          <a:noFill/>
          <a:ln/>
        </p:spPr>
        <p:txBody>
          <a:bodyPr wrap="square" lIns="0" tIns="0" rIns="0" bIns="0" rtlCol="0" anchor="ctr"/>
          <a:lstStyle/>
          <a:p>
            <a:pPr algn="ctr" indent="0" marL="0">
              <a:buNone/>
            </a:pPr>
            <a:r>
              <a:rPr lang="en-US" sz="1050" b="1" dirty="0">
                <a:solidFill>
                  <a:srgbClr val="0A0A12"/>
                </a:solidFill>
                <a:latin typeface="Calibri" pitchFamily="34" charset="0"/>
                <a:ea typeface="Calibri" pitchFamily="34" charset="-122"/>
                <a:cs typeface="Calibri" pitchFamily="34" charset="-120"/>
              </a:rPr>
              <a:t>3 → 6 months</a:t>
            </a:r>
            <a:endParaRPr lang="en-US" sz="1050" dirty="0"/>
          </a:p>
        </p:txBody>
      </p:sp>
      <p:sp>
        <p:nvSpPr>
          <p:cNvPr id="11" name="Text 9"/>
          <p:cNvSpPr/>
          <p:nvPr/>
        </p:nvSpPr>
        <p:spPr>
          <a:xfrm>
            <a:off x="3749040" y="2743200"/>
            <a:ext cx="1920240" cy="2103120"/>
          </a:xfrm>
          <a:prstGeom prst="rect">
            <a:avLst/>
          </a:prstGeom>
          <a:noFill/>
          <a:ln/>
        </p:spPr>
        <p:txBody>
          <a:bodyPr wrap="square" lIns="0" tIns="0" rIns="0" bIns="0" rtlCol="0" anchor="t"/>
          <a:lstStyle/>
          <a:p>
            <a:pPr indent="0" marL="0">
              <a:lnSpc>
                <a:spcPts val="1500"/>
              </a:lnSpc>
              <a:buNone/>
            </a:pPr>
            <a:r>
              <a:rPr lang="en-US" sz="1050" dirty="0">
                <a:solidFill>
                  <a:srgbClr val="9A9AB4"/>
                </a:solidFill>
                <a:latin typeface="Calibri" pitchFamily="34" charset="0"/>
                <a:ea typeface="Calibri" pitchFamily="34" charset="-122"/>
                <a:cs typeface="Calibri" pitchFamily="34" charset="-120"/>
              </a:rPr>
              <a:t>Fill that locality until the nearby list is worth opening. Turn on the printed QR so delivered packaging recruits the next customer. First retention curve.</a:t>
            </a:r>
            <a:endParaRPr lang="en-US" sz="1050" dirty="0"/>
          </a:p>
        </p:txBody>
      </p:sp>
      <p:sp>
        <p:nvSpPr>
          <p:cNvPr id="12" name="Shape 10"/>
          <p:cNvSpPr/>
          <p:nvPr/>
        </p:nvSpPr>
        <p:spPr>
          <a:xfrm>
            <a:off x="6217920" y="1920240"/>
            <a:ext cx="2560320" cy="3108960"/>
          </a:xfrm>
          <a:prstGeom prst="roundRect">
            <a:avLst>
              <a:gd name="adj" fmla="val 4286"/>
            </a:avLst>
          </a:prstGeom>
          <a:solidFill>
            <a:srgbClr val="171723"/>
          </a:solidFill>
          <a:ln w="12700">
            <a:solidFill>
              <a:srgbClr val="2A2A3D"/>
            </a:solidFill>
            <a:prstDash val="solid"/>
          </a:ln>
        </p:spPr>
      </p:sp>
      <p:sp>
        <p:nvSpPr>
          <p:cNvPr id="13" name="Shape 11"/>
          <p:cNvSpPr/>
          <p:nvPr/>
        </p:nvSpPr>
        <p:spPr>
          <a:xfrm>
            <a:off x="6537960" y="2194560"/>
            <a:ext cx="1783080" cy="347472"/>
          </a:xfrm>
          <a:prstGeom prst="roundRect">
            <a:avLst>
              <a:gd name="adj" fmla="val 21053"/>
            </a:avLst>
          </a:prstGeom>
          <a:solidFill>
            <a:srgbClr val="7C5CFF"/>
          </a:solidFill>
          <a:ln w="12700">
            <a:solidFill>
              <a:srgbClr val="7C5CFF"/>
            </a:solidFill>
            <a:prstDash val="solid"/>
          </a:ln>
        </p:spPr>
      </p:sp>
      <p:sp>
        <p:nvSpPr>
          <p:cNvPr id="14" name="Text 12"/>
          <p:cNvSpPr/>
          <p:nvPr/>
        </p:nvSpPr>
        <p:spPr>
          <a:xfrm>
            <a:off x="6537960" y="2194560"/>
            <a:ext cx="1783080" cy="347472"/>
          </a:xfrm>
          <a:prstGeom prst="rect">
            <a:avLst/>
          </a:prstGeom>
          <a:noFill/>
          <a:ln/>
        </p:spPr>
        <p:txBody>
          <a:bodyPr wrap="square" lIns="0" tIns="0" rIns="0" bIns="0" rtlCol="0" anchor="ctr"/>
          <a:lstStyle/>
          <a:p>
            <a:pPr algn="ctr" indent="0" marL="0">
              <a:buNone/>
            </a:pPr>
            <a:r>
              <a:rPr lang="en-US" sz="1050" b="1" dirty="0">
                <a:solidFill>
                  <a:srgbClr val="0A0A12"/>
                </a:solidFill>
                <a:latin typeface="Calibri" pitchFamily="34" charset="0"/>
                <a:ea typeface="Calibri" pitchFamily="34" charset="-122"/>
                <a:cs typeface="Calibri" pitchFamily="34" charset="-120"/>
              </a:rPr>
              <a:t>6 → 9 months</a:t>
            </a:r>
            <a:endParaRPr lang="en-US" sz="1050" dirty="0"/>
          </a:p>
        </p:txBody>
      </p:sp>
      <p:sp>
        <p:nvSpPr>
          <p:cNvPr id="15" name="Text 13"/>
          <p:cNvSpPr/>
          <p:nvPr/>
        </p:nvSpPr>
        <p:spPr>
          <a:xfrm>
            <a:off x="6537960" y="2743200"/>
            <a:ext cx="1920240" cy="2103120"/>
          </a:xfrm>
          <a:prstGeom prst="rect">
            <a:avLst/>
          </a:prstGeom>
          <a:noFill/>
          <a:ln/>
        </p:spPr>
        <p:txBody>
          <a:bodyPr wrap="square" lIns="0" tIns="0" rIns="0" bIns="0" rtlCol="0" anchor="t"/>
          <a:lstStyle/>
          <a:p>
            <a:pPr indent="0" marL="0">
              <a:lnSpc>
                <a:spcPts val="1500"/>
              </a:lnSpc>
              <a:buNone/>
            </a:pPr>
            <a:r>
              <a:rPr lang="en-US" sz="1050" dirty="0">
                <a:solidFill>
                  <a:srgbClr val="9A9AB4"/>
                </a:solidFill>
                <a:latin typeface="Calibri" pitchFamily="34" charset="0"/>
                <a:ea typeface="Calibri" pitchFamily="34" charset="-122"/>
                <a:cs typeface="Calibri" pitchFamily="34" charset="-120"/>
              </a:rPr>
              <a:t>Standing orders for scheduled meals. Second and third localities using the same playbook, run by someone who is not a founder — the test of whether it is repeatable.</a:t>
            </a:r>
            <a:endParaRPr lang="en-US" sz="1050" dirty="0"/>
          </a:p>
        </p:txBody>
      </p:sp>
      <p:sp>
        <p:nvSpPr>
          <p:cNvPr id="16" name="Shape 14"/>
          <p:cNvSpPr/>
          <p:nvPr/>
        </p:nvSpPr>
        <p:spPr>
          <a:xfrm>
            <a:off x="9006840" y="1920240"/>
            <a:ext cx="2560320" cy="3108960"/>
          </a:xfrm>
          <a:prstGeom prst="roundRect">
            <a:avLst>
              <a:gd name="adj" fmla="val 4286"/>
            </a:avLst>
          </a:prstGeom>
          <a:solidFill>
            <a:srgbClr val="171723"/>
          </a:solidFill>
          <a:ln w="12700">
            <a:solidFill>
              <a:srgbClr val="2A2A3D"/>
            </a:solidFill>
            <a:prstDash val="solid"/>
          </a:ln>
        </p:spPr>
      </p:sp>
      <p:sp>
        <p:nvSpPr>
          <p:cNvPr id="17" name="Shape 15"/>
          <p:cNvSpPr/>
          <p:nvPr/>
        </p:nvSpPr>
        <p:spPr>
          <a:xfrm>
            <a:off x="9326880" y="2194560"/>
            <a:ext cx="1783080" cy="347472"/>
          </a:xfrm>
          <a:prstGeom prst="roundRect">
            <a:avLst>
              <a:gd name="adj" fmla="val 21053"/>
            </a:avLst>
          </a:prstGeom>
          <a:solidFill>
            <a:srgbClr val="F5A524"/>
          </a:solidFill>
          <a:ln w="12700">
            <a:solidFill>
              <a:srgbClr val="F5A524"/>
            </a:solidFill>
            <a:prstDash val="solid"/>
          </a:ln>
        </p:spPr>
      </p:sp>
      <p:sp>
        <p:nvSpPr>
          <p:cNvPr id="18" name="Text 16"/>
          <p:cNvSpPr/>
          <p:nvPr/>
        </p:nvSpPr>
        <p:spPr>
          <a:xfrm>
            <a:off x="9326880" y="2194560"/>
            <a:ext cx="1783080" cy="347472"/>
          </a:xfrm>
          <a:prstGeom prst="rect">
            <a:avLst/>
          </a:prstGeom>
          <a:noFill/>
          <a:ln/>
        </p:spPr>
        <p:txBody>
          <a:bodyPr wrap="square" lIns="0" tIns="0" rIns="0" bIns="0" rtlCol="0" anchor="ctr"/>
          <a:lstStyle/>
          <a:p>
            <a:pPr algn="ctr" indent="0" marL="0">
              <a:buNone/>
            </a:pPr>
            <a:r>
              <a:rPr lang="en-US" sz="1050" b="1" dirty="0">
                <a:solidFill>
                  <a:srgbClr val="0A0A12"/>
                </a:solidFill>
                <a:latin typeface="Calibri" pitchFamily="34" charset="0"/>
                <a:ea typeface="Calibri" pitchFamily="34" charset="-122"/>
                <a:cs typeface="Calibri" pitchFamily="34" charset="-120"/>
              </a:rPr>
              <a:t>9 → 12 months</a:t>
            </a:r>
            <a:endParaRPr lang="en-US" sz="1050" dirty="0"/>
          </a:p>
        </p:txBody>
      </p:sp>
      <p:sp>
        <p:nvSpPr>
          <p:cNvPr id="19" name="Text 17"/>
          <p:cNvSpPr/>
          <p:nvPr/>
        </p:nvSpPr>
        <p:spPr>
          <a:xfrm>
            <a:off x="9326880" y="2743200"/>
            <a:ext cx="1920240" cy="2103120"/>
          </a:xfrm>
          <a:prstGeom prst="rect">
            <a:avLst/>
          </a:prstGeom>
          <a:noFill/>
          <a:ln/>
        </p:spPr>
        <p:txBody>
          <a:bodyPr wrap="square" lIns="0" tIns="0" rIns="0" bIns="0" rtlCol="0" anchor="t"/>
          <a:lstStyle/>
          <a:p>
            <a:pPr indent="0" marL="0">
              <a:lnSpc>
                <a:spcPts val="1500"/>
              </a:lnSpc>
              <a:buNone/>
            </a:pPr>
            <a:r>
              <a:rPr lang="en-US" sz="1050" dirty="0">
                <a:solidFill>
                  <a:srgbClr val="9A9AB4"/>
                </a:solidFill>
                <a:latin typeface="Calibri" pitchFamily="34" charset="0"/>
                <a:ea typeface="Calibri" pitchFamily="34" charset="-122"/>
                <a:cs typeface="Calibri" pitchFamily="34" charset="-120"/>
              </a:rPr>
              <a:t>Bakeries and cafés on the same rail. Second city. A cost-per-kitchen-acquired number solid enough to spend against.</a:t>
            </a:r>
            <a:endParaRPr lang="en-US" sz="1050" dirty="0"/>
          </a:p>
        </p:txBody>
      </p:sp>
      <p:sp>
        <p:nvSpPr>
          <p:cNvPr id="20" name="Shape 18"/>
          <p:cNvSpPr/>
          <p:nvPr/>
        </p:nvSpPr>
        <p:spPr>
          <a:xfrm>
            <a:off x="640080" y="5257800"/>
            <a:ext cx="10881360" cy="914400"/>
          </a:xfrm>
          <a:prstGeom prst="roundRect">
            <a:avLst>
              <a:gd name="adj" fmla="val 12000"/>
            </a:avLst>
          </a:prstGeom>
          <a:solidFill>
            <a:srgbClr val="1C1C2B"/>
          </a:solidFill>
          <a:ln w="12700">
            <a:solidFill>
              <a:srgbClr val="7C5CFF"/>
            </a:solidFill>
            <a:prstDash val="solid"/>
          </a:ln>
        </p:spPr>
      </p:sp>
      <p:sp>
        <p:nvSpPr>
          <p:cNvPr id="21" name="Text 19"/>
          <p:cNvSpPr/>
          <p:nvPr/>
        </p:nvSpPr>
        <p:spPr>
          <a:xfrm>
            <a:off x="960120" y="5257800"/>
            <a:ext cx="10241280" cy="914400"/>
          </a:xfrm>
          <a:prstGeom prst="rect">
            <a:avLst/>
          </a:prstGeom>
          <a:noFill/>
          <a:ln/>
        </p:spPr>
        <p:txBody>
          <a:bodyPr wrap="square" lIns="0" tIns="0" rIns="0" bIns="0" rtlCol="0" anchor="ctr"/>
          <a:lstStyle/>
          <a:p>
            <a:pPr indent="0" marL="0">
              <a:lnSpc>
                <a:spcPts val="1600"/>
              </a:lnSpc>
              <a:buNone/>
            </a:pPr>
            <a:r>
              <a:rPr lang="en-US" sz="1200" b="1" dirty="0">
                <a:solidFill>
                  <a:srgbClr val="F2F2F7"/>
                </a:solidFill>
                <a:latin typeface="Calibri" pitchFamily="34" charset="0"/>
                <a:ea typeface="Calibri" pitchFamily="34" charset="-122"/>
                <a:cs typeface="Calibri" pitchFamily="34" charset="-120"/>
              </a:rPr>
              <a:t>What we are raising, and for what.  </a:t>
            </a:r>
            <a:pPr indent="0" marL="0">
              <a:lnSpc>
                <a:spcPts val="1600"/>
              </a:lnSpc>
              <a:buNone/>
            </a:pPr>
            <a:r>
              <a:rPr lang="en-US" sz="1200" dirty="0">
                <a:solidFill>
                  <a:srgbClr val="F5A524"/>
                </a:solidFill>
                <a:latin typeface="Calibri" pitchFamily="34" charset="0"/>
                <a:ea typeface="Calibri" pitchFamily="34" charset="-122"/>
                <a:cs typeface="Calibri" pitchFamily="34" charset="-120"/>
              </a:rPr>
              <a:t>[ amount ] to fund [ sales headcount · SMS and infrastructure · runway to month N ]. Replace this line before the meeting.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640080" y="658368"/>
            <a:ext cx="4572000" cy="540327"/>
          </a:xfrm>
          <a:prstGeom prst="rect">
            <a:avLst/>
          </a:prstGeom>
          <a:noFill/>
          <a:ln/>
        </p:spPr>
        <p:txBody>
          <a:bodyPr wrap="square" lIns="0" tIns="0" rIns="0" bIns="0" rtlCol="0" anchor="ctr"/>
          <a:lstStyle/>
          <a:p>
            <a:pPr indent="0" marL="0">
              <a:buNone/>
            </a:pPr>
            <a:r>
              <a:rPr lang="en-US" sz="2600" b="1" spc="-100" kern="0" dirty="0">
                <a:solidFill>
                  <a:srgbClr val="F2F2F7"/>
                </a:solidFill>
                <a:latin typeface="Calibri" pitchFamily="34" charset="0"/>
                <a:ea typeface="Calibri" pitchFamily="34" charset="-122"/>
                <a:cs typeface="Calibri" pitchFamily="34" charset="-120"/>
              </a:rPr>
              <a:t>selly</a:t>
            </a:r>
            <a:pPr indent="0" marL="0">
              <a:buNone/>
            </a:pPr>
            <a:r>
              <a:rPr lang="en-US" sz="2600" b="1" spc="-100" kern="0" dirty="0">
                <a:solidFill>
                  <a:srgbClr val="25D366"/>
                </a:solidFill>
                <a:latin typeface="Calibri" pitchFamily="34" charset="0"/>
                <a:ea typeface="Calibri" pitchFamily="34" charset="-122"/>
                <a:cs typeface="Calibri" pitchFamily="34" charset="-120"/>
              </a:rPr>
              <a:t>.</a:t>
            </a:r>
            <a:endParaRPr lang="en-US" sz="2600" dirty="0"/>
          </a:p>
        </p:txBody>
      </p:sp>
      <p:sp>
        <p:nvSpPr>
          <p:cNvPr id="3" name="Text 1"/>
          <p:cNvSpPr/>
          <p:nvPr/>
        </p:nvSpPr>
        <p:spPr>
          <a:xfrm>
            <a:off x="640080" y="1920240"/>
            <a:ext cx="7498080" cy="1554480"/>
          </a:xfrm>
          <a:prstGeom prst="rect">
            <a:avLst/>
          </a:prstGeom>
          <a:noFill/>
          <a:ln/>
        </p:spPr>
        <p:txBody>
          <a:bodyPr wrap="square" lIns="0" tIns="0" rIns="0" bIns="0" rtlCol="0" anchor="t"/>
          <a:lstStyle/>
          <a:p>
            <a:pPr indent="0" marL="0">
              <a:lnSpc>
                <a:spcPts val="4400"/>
              </a:lnSpc>
              <a:buNone/>
            </a:pPr>
            <a:r>
              <a:rPr lang="en-US" sz="3300" b="1" spc="-40" kern="0" dirty="0">
                <a:solidFill>
                  <a:srgbClr val="F2F2F7"/>
                </a:solidFill>
                <a:latin typeface="Calibri" pitchFamily="34" charset="0"/>
                <a:ea typeface="Calibri" pitchFamily="34" charset="-122"/>
                <a:cs typeface="Calibri" pitchFamily="34" charset="-120"/>
              </a:rPr>
              <a:t>A kitchen should not have to</a:t>
            </a:r>
            <a:endParaRPr lang="en-US" sz="3300" dirty="0"/>
          </a:p>
          <a:p>
            <a:pPr indent="0" marL="0">
              <a:lnSpc>
                <a:spcPts val="4400"/>
              </a:lnSpc>
              <a:buNone/>
            </a:pPr>
            <a:r>
              <a:rPr lang="en-US" sz="3300" b="1" spc="-40" kern="0" dirty="0">
                <a:solidFill>
                  <a:srgbClr val="F2F2F7"/>
                </a:solidFill>
                <a:latin typeface="Calibri" pitchFamily="34" charset="0"/>
                <a:ea typeface="Calibri" pitchFamily="34" charset="-122"/>
                <a:cs typeface="Calibri" pitchFamily="34" charset="-120"/>
              </a:rPr>
              <a:t>rent its own customers.</a:t>
            </a:r>
            <a:endParaRPr lang="en-US" sz="3300" dirty="0"/>
          </a:p>
        </p:txBody>
      </p:sp>
      <p:sp>
        <p:nvSpPr>
          <p:cNvPr id="4" name="Text 2"/>
          <p:cNvSpPr/>
          <p:nvPr/>
        </p:nvSpPr>
        <p:spPr>
          <a:xfrm>
            <a:off x="658368" y="3657600"/>
            <a:ext cx="7223760" cy="1828800"/>
          </a:xfrm>
          <a:prstGeom prst="rect">
            <a:avLst/>
          </a:prstGeom>
          <a:noFill/>
          <a:ln/>
        </p:spPr>
        <p:txBody>
          <a:bodyPr wrap="square" lIns="0" tIns="0" rIns="0" bIns="0" rtlCol="0" anchor="t"/>
          <a:lstStyle/>
          <a:p>
            <a:pPr indent="0" marL="0">
              <a:lnSpc>
                <a:spcPts val="2100"/>
              </a:lnSpc>
              <a:buNone/>
            </a:pPr>
            <a:r>
              <a:rPr lang="en-US" sz="1400" dirty="0">
                <a:solidFill>
                  <a:srgbClr val="9A9AB4"/>
                </a:solidFill>
                <a:latin typeface="Calibri" pitchFamily="34" charset="0"/>
                <a:ea typeface="Calibri" pitchFamily="34" charset="-122"/>
                <a:cs typeface="Calibri" pitchFamily="34" charset="-120"/>
              </a:rPr>
              <a:t>We reach every phone in the country without an app, put a real shop behind every message, take a flat twenty rupees instead of a quarter of the plate, and never touch the money.</a:t>
            </a:r>
            <a:endParaRPr lang="en-US" sz="1400" dirty="0"/>
          </a:p>
          <a:p>
            <a:pPr indent="0" marL="0">
              <a:lnSpc>
                <a:spcPts val="2100"/>
              </a:lnSpc>
              <a:buNone/>
            </a:pPr>
            <a:endParaRPr lang="en-US" sz="1400" dirty="0"/>
          </a:p>
          <a:p>
            <a:pPr indent="0" marL="0">
              <a:lnSpc>
                <a:spcPts val="2100"/>
              </a:lnSpc>
              <a:buNone/>
            </a:pPr>
            <a:r>
              <a:rPr lang="en-US" sz="1400" dirty="0">
                <a:solidFill>
                  <a:srgbClr val="9A9AB4"/>
                </a:solidFill>
                <a:latin typeface="Calibri" pitchFamily="34" charset="0"/>
                <a:ea typeface="Calibri" pitchFamily="34" charset="-122"/>
                <a:cs typeface="Calibri" pitchFamily="34" charset="-120"/>
              </a:rPr>
              <a:t>The product is built and working. What we need now is kitchens.</a:t>
            </a:r>
            <a:endParaRPr lang="en-US" sz="1400" dirty="0"/>
          </a:p>
        </p:txBody>
      </p:sp>
      <p:sp>
        <p:nvSpPr>
          <p:cNvPr id="5" name="Shape 3"/>
          <p:cNvSpPr/>
          <p:nvPr/>
        </p:nvSpPr>
        <p:spPr>
          <a:xfrm>
            <a:off x="8229600" y="1965960"/>
            <a:ext cx="3291840" cy="640080"/>
          </a:xfrm>
          <a:prstGeom prst="roundRect">
            <a:avLst>
              <a:gd name="adj" fmla="val 17143"/>
            </a:avLst>
          </a:prstGeom>
          <a:solidFill>
            <a:srgbClr val="171723"/>
          </a:solidFill>
          <a:ln w="12700">
            <a:solidFill>
              <a:srgbClr val="2A2A3D"/>
            </a:solidFill>
            <a:prstDash val="solid"/>
          </a:ln>
        </p:spPr>
      </p:sp>
      <p:sp>
        <p:nvSpPr>
          <p:cNvPr id="6" name="Text 4"/>
          <p:cNvSpPr/>
          <p:nvPr/>
        </p:nvSpPr>
        <p:spPr>
          <a:xfrm>
            <a:off x="8503920" y="1965960"/>
            <a:ext cx="2834640" cy="640080"/>
          </a:xfrm>
          <a:prstGeom prst="rect">
            <a:avLst/>
          </a:prstGeom>
          <a:noFill/>
          <a:ln/>
        </p:spPr>
        <p:txBody>
          <a:bodyPr wrap="square" lIns="0" tIns="0" rIns="0" bIns="0" rtlCol="0" anchor="ctr"/>
          <a:lstStyle/>
          <a:p>
            <a:pPr indent="0" marL="0">
              <a:lnSpc>
                <a:spcPts val="1300"/>
              </a:lnSpc>
              <a:buNone/>
            </a:pPr>
            <a:r>
              <a:rPr lang="en-US" sz="1050" dirty="0">
                <a:solidFill>
                  <a:srgbClr val="9A9AB4"/>
                </a:solidFill>
                <a:latin typeface="Calibri" pitchFamily="34" charset="0"/>
                <a:ea typeface="Calibri" pitchFamily="34" charset="-122"/>
                <a:cs typeface="Calibri" pitchFamily="34" charset="-120"/>
              </a:rPr>
              <a:t>Introductions to cloud kitchen operators in Pune</a:t>
            </a:r>
            <a:endParaRPr lang="en-US" sz="1050" dirty="0"/>
          </a:p>
        </p:txBody>
      </p:sp>
      <p:sp>
        <p:nvSpPr>
          <p:cNvPr id="7" name="Shape 5"/>
          <p:cNvSpPr/>
          <p:nvPr/>
        </p:nvSpPr>
        <p:spPr>
          <a:xfrm>
            <a:off x="8229600" y="2743200"/>
            <a:ext cx="3291840" cy="640080"/>
          </a:xfrm>
          <a:prstGeom prst="roundRect">
            <a:avLst>
              <a:gd name="adj" fmla="val 17143"/>
            </a:avLst>
          </a:prstGeom>
          <a:solidFill>
            <a:srgbClr val="171723"/>
          </a:solidFill>
          <a:ln w="12700">
            <a:solidFill>
              <a:srgbClr val="2A2A3D"/>
            </a:solidFill>
            <a:prstDash val="solid"/>
          </a:ln>
        </p:spPr>
      </p:sp>
      <p:sp>
        <p:nvSpPr>
          <p:cNvPr id="8" name="Text 6"/>
          <p:cNvSpPr/>
          <p:nvPr/>
        </p:nvSpPr>
        <p:spPr>
          <a:xfrm>
            <a:off x="8503920" y="2743200"/>
            <a:ext cx="2834640" cy="640080"/>
          </a:xfrm>
          <a:prstGeom prst="rect">
            <a:avLst/>
          </a:prstGeom>
          <a:noFill/>
          <a:ln/>
        </p:spPr>
        <p:txBody>
          <a:bodyPr wrap="square" lIns="0" tIns="0" rIns="0" bIns="0" rtlCol="0" anchor="ctr"/>
          <a:lstStyle/>
          <a:p>
            <a:pPr indent="0" marL="0">
              <a:lnSpc>
                <a:spcPts val="1300"/>
              </a:lnSpc>
              <a:buNone/>
            </a:pPr>
            <a:r>
              <a:rPr lang="en-US" sz="1050" dirty="0">
                <a:solidFill>
                  <a:srgbClr val="9A9AB4"/>
                </a:solidFill>
                <a:latin typeface="Calibri" pitchFamily="34" charset="0"/>
                <a:ea typeface="Calibri" pitchFamily="34" charset="-122"/>
                <a:cs typeface="Calibri" pitchFamily="34" charset="-120"/>
              </a:rPr>
              <a:t>Anyone you know who has sold software to restaurants</a:t>
            </a:r>
            <a:endParaRPr lang="en-US" sz="1050" dirty="0"/>
          </a:p>
        </p:txBody>
      </p:sp>
      <p:sp>
        <p:nvSpPr>
          <p:cNvPr id="9" name="Shape 7"/>
          <p:cNvSpPr/>
          <p:nvPr/>
        </p:nvSpPr>
        <p:spPr>
          <a:xfrm>
            <a:off x="8229600" y="3520440"/>
            <a:ext cx="3291840" cy="640080"/>
          </a:xfrm>
          <a:prstGeom prst="roundRect">
            <a:avLst>
              <a:gd name="adj" fmla="val 17143"/>
            </a:avLst>
          </a:prstGeom>
          <a:solidFill>
            <a:srgbClr val="171723"/>
          </a:solidFill>
          <a:ln w="12700">
            <a:solidFill>
              <a:srgbClr val="2A2A3D"/>
            </a:solidFill>
            <a:prstDash val="solid"/>
          </a:ln>
        </p:spPr>
      </p:sp>
      <p:sp>
        <p:nvSpPr>
          <p:cNvPr id="10" name="Text 8"/>
          <p:cNvSpPr/>
          <p:nvPr/>
        </p:nvSpPr>
        <p:spPr>
          <a:xfrm>
            <a:off x="8503920" y="3520440"/>
            <a:ext cx="2834640" cy="640080"/>
          </a:xfrm>
          <a:prstGeom prst="rect">
            <a:avLst/>
          </a:prstGeom>
          <a:noFill/>
          <a:ln/>
        </p:spPr>
        <p:txBody>
          <a:bodyPr wrap="square" lIns="0" tIns="0" rIns="0" bIns="0" rtlCol="0" anchor="ctr"/>
          <a:lstStyle/>
          <a:p>
            <a:pPr indent="0" marL="0">
              <a:lnSpc>
                <a:spcPts val="1300"/>
              </a:lnSpc>
              <a:buNone/>
            </a:pPr>
            <a:r>
              <a:rPr lang="en-US" sz="1050" dirty="0">
                <a:solidFill>
                  <a:srgbClr val="9A9AB4"/>
                </a:solidFill>
                <a:latin typeface="Calibri" pitchFamily="34" charset="0"/>
                <a:ea typeface="Calibri" pitchFamily="34" charset="-122"/>
                <a:cs typeface="Calibri" pitchFamily="34" charset="-120"/>
              </a:rPr>
              <a:t>A hard look at our retention assumptions</a:t>
            </a:r>
            <a:endParaRPr lang="en-US" sz="1050" dirty="0"/>
          </a:p>
        </p:txBody>
      </p:sp>
      <p:sp>
        <p:nvSpPr>
          <p:cNvPr id="11" name="Shape 9"/>
          <p:cNvSpPr/>
          <p:nvPr/>
        </p:nvSpPr>
        <p:spPr>
          <a:xfrm>
            <a:off x="8229600" y="4297680"/>
            <a:ext cx="3291840" cy="640080"/>
          </a:xfrm>
          <a:prstGeom prst="roundRect">
            <a:avLst>
              <a:gd name="adj" fmla="val 17143"/>
            </a:avLst>
          </a:prstGeom>
          <a:solidFill>
            <a:srgbClr val="1C1C2B"/>
          </a:solidFill>
          <a:ln w="12700">
            <a:solidFill>
              <a:srgbClr val="7C5CFF"/>
            </a:solidFill>
            <a:prstDash val="solid"/>
          </a:ln>
        </p:spPr>
      </p:sp>
      <p:sp>
        <p:nvSpPr>
          <p:cNvPr id="12" name="Text 10"/>
          <p:cNvSpPr/>
          <p:nvPr/>
        </p:nvSpPr>
        <p:spPr>
          <a:xfrm>
            <a:off x="8503920" y="4297680"/>
            <a:ext cx="2834640" cy="640080"/>
          </a:xfrm>
          <a:prstGeom prst="rect">
            <a:avLst/>
          </a:prstGeom>
          <a:noFill/>
          <a:ln/>
        </p:spPr>
        <p:txBody>
          <a:bodyPr wrap="square" lIns="0" tIns="0" rIns="0" bIns="0" rtlCol="0" anchor="ctr"/>
          <a:lstStyle/>
          <a:p>
            <a:pPr indent="0" marL="0">
              <a:lnSpc>
                <a:spcPts val="1300"/>
              </a:lnSpc>
              <a:buNone/>
            </a:pPr>
            <a:r>
              <a:rPr lang="en-US" sz="1050" dirty="0">
                <a:solidFill>
                  <a:srgbClr val="F2F2F7"/>
                </a:solidFill>
                <a:latin typeface="Calibri" pitchFamily="34" charset="0"/>
                <a:ea typeface="Calibri" pitchFamily="34" charset="-122"/>
                <a:cs typeface="Calibri" pitchFamily="34" charset="-120"/>
              </a:rPr>
              <a:t>And, if it fits, the round</a:t>
            </a:r>
            <a:endParaRPr lang="en-US" sz="1050" dirty="0"/>
          </a:p>
        </p:txBody>
      </p:sp>
      <p:sp>
        <p:nvSpPr>
          <p:cNvPr id="13" name="Text 11"/>
          <p:cNvSpPr/>
          <p:nvPr/>
        </p:nvSpPr>
        <p:spPr>
          <a:xfrm>
            <a:off x="8229600" y="5257800"/>
            <a:ext cx="3291840" cy="457200"/>
          </a:xfrm>
          <a:prstGeom prst="rect">
            <a:avLst/>
          </a:prstGeom>
          <a:noFill/>
          <a:ln/>
        </p:spPr>
        <p:txBody>
          <a:bodyPr wrap="square" lIns="0" tIns="0" rIns="0" bIns="0" rtlCol="0" anchor="ctr"/>
          <a:lstStyle/>
          <a:p>
            <a:pPr algn="r" indent="0" marL="0">
              <a:buNone/>
            </a:pPr>
            <a:r>
              <a:rPr lang="en-US" sz="1600" dirty="0">
                <a:solidFill>
                  <a:srgbClr val="9A9AB4"/>
                </a:solidFill>
                <a:latin typeface="Calibri" pitchFamily="34" charset="0"/>
                <a:ea typeface="Calibri" pitchFamily="34" charset="-122"/>
                <a:cs typeface="Calibri" pitchFamily="34" charset="-120"/>
              </a:rPr>
              <a:t>Thank you.</a:t>
            </a:r>
            <a:endParaRPr lang="en-US" sz="1600" dirty="0"/>
          </a:p>
        </p:txBody>
      </p:sp>
      <p:sp>
        <p:nvSpPr>
          <p:cNvPr id="14" name="Text 12"/>
          <p:cNvSpPr/>
          <p:nvPr/>
        </p:nvSpPr>
        <p:spPr>
          <a:xfrm>
            <a:off x="640080" y="6345936"/>
            <a:ext cx="10972800" cy="292608"/>
          </a:xfrm>
          <a:prstGeom prst="rect">
            <a:avLst/>
          </a:prstGeom>
          <a:noFill/>
          <a:ln/>
        </p:spPr>
        <p:txBody>
          <a:bodyPr wrap="square" lIns="0" tIns="0" rIns="0" bIns="0" rtlCol="0" anchor="t"/>
          <a:lstStyle/>
          <a:p>
            <a:pPr indent="0" marL="0">
              <a:buNone/>
            </a:pPr>
            <a:r>
              <a:rPr lang="en-US" sz="1000" dirty="0">
                <a:solidFill>
                  <a:srgbClr val="63637D"/>
                </a:solidFill>
                <a:latin typeface="Calibri" pitchFamily="34" charset="0"/>
                <a:ea typeface="Calibri" pitchFamily="34" charset="-122"/>
                <a:cs typeface="Calibri" pitchFamily="34" charset="-120"/>
              </a:rPr>
              <a:t>Selly  ·  Confidential  ·  Investor deck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Selly — investor deck</dc:title>
  <dc:subject>PptxGenJS Presentation</dc:subject>
  <dc:creator>Selly</dc:creator>
  <cp:lastModifiedBy>Selly</cp:lastModifiedBy>
  <cp:revision>1</cp:revision>
  <dcterms:created xsi:type="dcterms:W3CDTF">2026-09-07T16:39:30Z</dcterms:created>
  <dcterms:modified xsi:type="dcterms:W3CDTF">2026-09-07T16:39:30Z</dcterms:modified>
</cp:coreProperties>
</file>